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08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0183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10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Fundamentos de Contenedores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Infraestructura  •  Docker  •  Ciclo de Vida  •  Laboratorio Práctico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Contenedores y Orquestación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EE6A63E-F38F-A089-29C5-779753C6688C}"/>
              </a:ext>
            </a:extLst>
          </p:cNvPr>
          <p:cNvSpPr/>
          <p:nvPr/>
        </p:nvSpPr>
        <p:spPr>
          <a:xfrm>
            <a:off x="0" y="4681762"/>
            <a:ext cx="163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Zuluaga P.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Betancur 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Unidad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527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de la Infraestructura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Bare Metal a Contenedores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40080" y="1892808"/>
            <a:ext cx="7863840" cy="64008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" y="1892808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002536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19385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Contenedor?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508760" y="2212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Concepto, aislamiento y portabilidad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98080" y="1984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40080" y="2642616"/>
            <a:ext cx="7863840" cy="64008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40080" y="2642616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752344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08760" y="2688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de Docker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508760" y="29626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Engine, imágenes, volúmenes, redes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7498080" y="27340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640080" y="3392424"/>
            <a:ext cx="7863840" cy="64008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40080" y="3392424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502152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de Vida del Contenedor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1508760" y="3712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→ Running → Stopped → Removed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7498080" y="34838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Shape 23"/>
          <p:cNvSpPr/>
          <p:nvPr/>
        </p:nvSpPr>
        <p:spPr>
          <a:xfrm>
            <a:off x="640080" y="4142232"/>
            <a:ext cx="7863840" cy="64008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40080" y="4142232"/>
            <a:ext cx="54864" cy="6400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51960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508760" y="41879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Laboratorio Práctico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1508760" y="4462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contenedores: Nginx, PostgreSQL, Flask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498080" y="42336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35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de la Infraestructura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servidor físico al contenedor ligero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60320" cy="320040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25603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5087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Bare Metal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1188720"/>
            <a:ext cx="2560320" cy="320040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74720" y="118872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50876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Máquinas Virtuales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7472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1188720"/>
            <a:ext cx="2560320" cy="320040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309360" y="118872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50876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Contenedores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0936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2013+</a:t>
            </a:r>
            <a:endParaRPr lang="en-US" sz="1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2377440"/>
            <a:ext cx="320040" cy="320040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7880" y="237744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296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 por servidor.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desperdiciados.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costoso.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65760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SO virtualizados.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gestiona HW.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uso de recursos.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6492240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aislados.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Compartiendo kernel.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en segundos.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Bare Metal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físico dedicado — una aplicación por máquina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931920" cy="34747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dedicado sin capa de virtualización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Sistema Operativo por servidor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rendimiento posible (sin overhead)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vertical: más RAM, CPU, disco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Aprovisionamiento lento (días/semanas)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desperdicio de recursos en baja carga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34747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0" y="1783080"/>
            <a:ext cx="3200400" cy="457200"/>
          </a:xfrm>
          <a:prstGeom prst="rect">
            <a:avLst/>
          </a:prstGeom>
          <a:solidFill>
            <a:srgbClr val="F97316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2331720"/>
            <a:ext cx="3200400" cy="457200"/>
          </a:xfrm>
          <a:prstGeom prst="rect">
            <a:avLst/>
          </a:prstGeom>
          <a:solidFill>
            <a:srgbClr val="B45309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Binarios / Librerías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2880360"/>
            <a:ext cx="3200400" cy="457200"/>
          </a:xfrm>
          <a:prstGeom prst="rect">
            <a:avLst/>
          </a:prstGeom>
          <a:solidFill>
            <a:srgbClr val="92400E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Operativo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2080" y="3429000"/>
            <a:ext cx="3200400" cy="457200"/>
          </a:xfrm>
          <a:prstGeom prst="rect">
            <a:avLst/>
          </a:prstGeom>
          <a:solidFill>
            <a:srgbClr val="64748B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(CPU, RAM, Disco)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23360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Máquinas Virtuales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 completa del hardware mediante hypervisor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931920" cy="34747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abstrae el hardware físico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VM tiene su propio SO completo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fuerte entre máquinas virtuales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aprovechamiento que Bare Metal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significativo (GB de RAM por VM)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en minutos, no en segundos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34747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0" y="1783080"/>
            <a:ext cx="1280160" cy="91440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SO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29400" y="1783080"/>
            <a:ext cx="1280160" cy="914400"/>
          </a:xfrm>
          <a:prstGeom prst="rect">
            <a:avLst/>
          </a:prstGeom>
          <a:solidFill>
            <a:srgbClr val="8B5CF6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29400" y="178308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+ SO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2834640"/>
            <a:ext cx="2743200" cy="457200"/>
          </a:xfrm>
          <a:prstGeom prst="rect">
            <a:avLst/>
          </a:prstGeom>
          <a:solidFill>
            <a:srgbClr val="6D28D9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(VMware, KVM, Hyper-V)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3383280"/>
            <a:ext cx="2743200" cy="411480"/>
          </a:xfrm>
          <a:prstGeom prst="rect">
            <a:avLst/>
          </a:prstGeom>
          <a:solidFill>
            <a:srgbClr val="4C1D95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886200"/>
            <a:ext cx="2743200" cy="411480"/>
          </a:xfrm>
          <a:prstGeom prst="rect">
            <a:avLst/>
          </a:prstGeom>
          <a:solidFill>
            <a:srgbClr val="64748B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78308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Contenedores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Virtualización a nivel de sistema operativo — aislamiento de procesos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931920" cy="34747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Comparten el kernel del host 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mediante namespaces y cgroups (control groups)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en milisegundos, no minutos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de ~MB vs GB de una VM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Portabilidad total: dev = staging = prod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 alta: cientos por servidor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34747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12080" y="1783080"/>
            <a:ext cx="822960" cy="731520"/>
          </a:xfrm>
          <a:prstGeom prst="rect">
            <a:avLst/>
          </a:prstGeom>
          <a:solidFill>
            <a:srgbClr val="0891B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0" y="1783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783080"/>
            <a:ext cx="822960" cy="731520"/>
          </a:xfrm>
          <a:prstGeom prst="rect">
            <a:avLst/>
          </a:prstGeom>
          <a:solidFill>
            <a:srgbClr val="0E7490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1783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0" y="1783080"/>
            <a:ext cx="822960" cy="731520"/>
          </a:xfrm>
          <a:prstGeom prst="rect">
            <a:avLst/>
          </a:prstGeom>
          <a:solidFill>
            <a:srgbClr val="155E75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17830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2651760"/>
            <a:ext cx="3200400" cy="457200"/>
          </a:xfrm>
          <a:prstGeom prst="rect">
            <a:avLst/>
          </a:prstGeom>
          <a:solidFill>
            <a:srgbClr val="0E4D64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2651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Engine (Docker)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200400"/>
            <a:ext cx="3200400" cy="411480"/>
          </a:xfrm>
          <a:prstGeom prst="rect">
            <a:avLst/>
          </a:prstGeom>
          <a:solidFill>
            <a:srgbClr val="0C3547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 (kernel compartido)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3703320"/>
            <a:ext cx="3200400" cy="411480"/>
          </a:xfrm>
          <a:prstGeom prst="rect">
            <a:avLst/>
          </a:prstGeom>
          <a:solidFill>
            <a:srgbClr val="64748B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1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78308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Metal vs Máquinas Virtuales vs Contenedores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Característica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Bare Metal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Máquina Virtual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Contenedor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Arranque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Segundos/ms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Tamaño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(físico)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Aislamiento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Físico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completo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Namespaces/cgroups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app/server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~10-20 VMs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~100s contenedores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(OVA)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(imagen)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(hypervisor)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Vertical/Horizontal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nativo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8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un Contenedor?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estándar de software que empaqueta código y dependencias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7863840" cy="11887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54864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23444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contenedor es una instancia ejecutable de una imagen que encapsula una aplicación junto con todas sus dependencias, librerías y configuración, ejecutándose de forma aislada sobre el kernel del sistema operativo host.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3794760" cy="100584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54864" cy="10058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889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Namespaces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Aíslan PID, red, filesystem, usuarios e IPC entre contenedores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09160" y="2560320"/>
            <a:ext cx="3794760" cy="100584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709160" y="2560320"/>
            <a:ext cx="54864" cy="10058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788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Cgroups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0" y="2971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Limitan y controlan CPU, memoria, I/O y recursos del sistema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794760" cy="100584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080" y="374904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9776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Union FS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1732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archivos por capas (overlay2) para imágenes eficientes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709160" y="3749040"/>
            <a:ext cx="3794760" cy="100584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709160" y="3749040"/>
            <a:ext cx="54864" cy="10058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97764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 Standard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86400" y="4160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Container Initiative define el estándar de runtime e imágenes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de un Contenedor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técnicos clave de la contenedorización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2514600" cy="16459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508760" y="1325880"/>
            <a:ext cx="640080" cy="640080"/>
          </a:xfrm>
          <a:prstGeom prst="ellipse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4173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57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Ligero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 el kernel del host, sin SO completo. Tamaño en MB.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1188720"/>
            <a:ext cx="2514600" cy="16459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97680" y="1325880"/>
            <a:ext cx="640080" cy="640080"/>
          </a:xfrm>
          <a:prstGeom prst="ellipse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4173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057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Portable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6616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igual en dev, staging y producción sin cambios.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188720"/>
            <a:ext cx="2514600" cy="16459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086600" y="1325880"/>
            <a:ext cx="640080" cy="640080"/>
          </a:xfrm>
          <a:prstGeom prst="ellipse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4173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057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Aislado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50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contenedor tiene su propio filesystem, red y procesos.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063240"/>
            <a:ext cx="2514600" cy="16459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508760" y="3200400"/>
            <a:ext cx="640080" cy="640080"/>
          </a:xfrm>
          <a:prstGeom prst="ellipse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32918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8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Inmutable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77240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imágenes son de solo lectura. Cambios en capa superior.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429000" y="3063240"/>
            <a:ext cx="2514600" cy="16459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297680" y="3200400"/>
            <a:ext cx="640080" cy="640080"/>
          </a:xfrm>
          <a:prstGeom prst="ellipse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29184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42900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Escalable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566160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replica horizontalmente con orquestadores como Kubernetes.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17920" y="3063240"/>
            <a:ext cx="2514600" cy="164592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7086600" y="3200400"/>
            <a:ext cx="640080" cy="640080"/>
          </a:xfrm>
          <a:prstGeom prst="ellipse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329184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17920" y="3931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Versionado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355080" y="4206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imagen tiene tags. Rollback instantáneo ante fallos.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de Docker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completo para construir, distribuir y ejecutar contenedores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20240" cy="173736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801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Engine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Daemon (dockerd) + CLI + API REST. El corazón de Docker.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1097280"/>
            <a:ext cx="1920240" cy="173736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606040" y="109728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280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0604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Images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697480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solo lectura con capas. Base de los contenedores.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754880" y="1097280"/>
            <a:ext cx="1920240" cy="173736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754880" y="1097280"/>
            <a:ext cx="1920240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2801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46320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Instancias ejecutables de imágenes con capa de escritura.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903720" y="1097280"/>
            <a:ext cx="1920240" cy="173736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903720" y="1097280"/>
            <a:ext cx="192024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28016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95160" y="21488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de instrucciones para construir imágenes paso a paso.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57200" y="3063240"/>
            <a:ext cx="1920240" cy="173736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7200" y="3063240"/>
            <a:ext cx="192024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24612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720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Hub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público con miles de imágenes oficiales y comunitarias.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2606040" y="3063240"/>
            <a:ext cx="1920240" cy="173736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2606040" y="3063240"/>
            <a:ext cx="1920240" cy="457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24612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60604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69748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datos independiente del ciclo de vida del contenedor.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4754880" y="3063240"/>
            <a:ext cx="1920240" cy="173736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4754880" y="3063240"/>
            <a:ext cx="192024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40680" y="3246120"/>
            <a:ext cx="457200" cy="4572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75488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Networks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84632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aislada entre contenedores (bridge, host, overlay).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6903720" y="3063240"/>
            <a:ext cx="1920240" cy="173736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6903720" y="3063240"/>
            <a:ext cx="1920240" cy="45720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9520" y="3246120"/>
            <a:ext cx="457200" cy="45720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6903720" y="3794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Compose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699516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aplicaciones multi-contenedor con un solo archivo YAML.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cliente-servidor del motor de contenedores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2560320" cy="292608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256032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CLI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2024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push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560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54680" y="29718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931920" y="1280160"/>
            <a:ext cx="2560320" cy="292608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931920" y="1280160"/>
            <a:ext cx="2560320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93192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Daemon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9202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1480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dockerd gestiona: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Imágenes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Contenedores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Redes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Volúmenes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560320"/>
            <a:ext cx="365760" cy="36576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223760" y="1280160"/>
            <a:ext cx="1554480" cy="292608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7223760" y="1280160"/>
            <a:ext cx="155448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72237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223760" y="201168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runc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(OCI spec)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 e Imágenes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instrucciones a plantillas ejecutables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3931920" cy="35661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python:3.11-slim
</a:t>
            </a: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/app
</a:t>
            </a: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requirements.txt .
</a:t>
            </a: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install -r requirements.txt
</a:t>
            </a: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.
</a:t>
            </a: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5000
</a:t>
            </a:r>
            <a:r>
              <a:rPr lang="en-US" sz="10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["python", "app.py"]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931920" cy="35661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Capas de la Imagen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20640" y="1691640"/>
            <a:ext cx="3383280" cy="32918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0" y="16916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7: CMD (metadata)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20640" y="2093976"/>
            <a:ext cx="3383280" cy="32918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20640" y="20939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6: EXPOSE 5000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0" y="2496312"/>
            <a:ext cx="3383280" cy="329184"/>
          </a:xfrm>
          <a:prstGeom prst="rect">
            <a:avLst/>
          </a:prstGeom>
          <a:solidFill>
            <a:srgbClr val="155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120640" y="24963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5: COPY . 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2898648"/>
            <a:ext cx="3383280" cy="329184"/>
          </a:xfrm>
          <a:prstGeom prst="rect">
            <a:avLst/>
          </a:prstGeom>
          <a:solidFill>
            <a:srgbClr val="164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20640" y="28986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4: RUN pip install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20640" y="3300984"/>
            <a:ext cx="3383280" cy="329184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20640" y="330098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3: COPY requirements.txt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120640" y="3703320"/>
            <a:ext cx="3383280" cy="329184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37033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2: WORKDIR /app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120640" y="4105656"/>
            <a:ext cx="3383280" cy="32918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410565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 1: python:3.11-slim (base)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4526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Read-only layers (inmutables)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Ciclo de Vida del Contenedor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y transiciones desde la creación hasta la eliminación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148840"/>
            <a:ext cx="740664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371600" cy="12801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371600" cy="457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create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508760"/>
            <a:ext cx="1371600" cy="12801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77440" y="1508760"/>
            <a:ext cx="137160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88920" y="169164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7744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514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start/run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1508760"/>
            <a:ext cx="1371600" cy="12801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97680" y="1508760"/>
            <a:ext cx="1371600" cy="457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09160" y="1691640"/>
            <a:ext cx="502920" cy="50292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Paused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514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pause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508760"/>
            <a:ext cx="1371600" cy="12801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1508760"/>
            <a:ext cx="1371600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16916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514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772400" y="1508760"/>
            <a:ext cx="1371600" cy="12801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72400" y="1508760"/>
            <a:ext cx="137160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83880" y="169164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0" y="2286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Removed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2514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0080" y="32004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create &lt;img&gt;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91840" y="3200400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contenedor sin ejecutarlo. Sistema de archivos listo.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3538728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&lt;img&gt;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3538728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+ inicia el contenedor. Combina create + start.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387705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pause / unpause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91840" y="3877056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Congela/descongela procesos usando cgroups freezer.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421538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91840" y="4215384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SIGTERM, luego SIGKILL tras timeout (10s por defecto).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553712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&lt;id&gt;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91840" y="455371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el contenedor y su capa de escritura. Datos perdidos sin volumen.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Laboratorio Práctico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 Docker + 3 Contenedores en Linux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3657600"/>
            <a:ext cx="2286000" cy="73152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914400" y="3657600"/>
            <a:ext cx="54864" cy="7315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5156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— Servidor Web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20440" y="3657600"/>
            <a:ext cx="2286000" cy="73152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20440" y="3657600"/>
            <a:ext cx="54864" cy="7315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5760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Base de Datos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26480" y="3657600"/>
            <a:ext cx="2286000" cy="731520"/>
          </a:xfrm>
          <a:prstGeom prst="rect">
            <a:avLst/>
          </a:prstGeom>
          <a:solidFill>
            <a:srgbClr val="182842"/>
          </a:solidFill>
          <a:ln/>
          <a:effectLst>
            <a:outerShdw blurRad="50800" dist="127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126480" y="3657600"/>
            <a:ext cx="54864" cy="7315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63640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63640" y="4023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— Aplicación Web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Paso 1: Instalación de Docker en Linux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Debian — Instalación desde repositorio oficial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384048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$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7498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Actualizar paquetes e instalar dependencias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-y ca-certificates curl gnupg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Agregar la clave GPG oficial de Docker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install -m 0755 -d /etc/apt/keyrings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https://download.docker.com/linux/ubuntu/gpg \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sudo gpg --dearmor -o /etc/apt/keyrings/docker.gpg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Configurar el repositorio de Docker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"deb [arch=$(dpkg --print-architecture) \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signed-by=/etc/apt/keyrings/docker.gpg] \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https://download.docker.com/linux/ubuntu \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$(lsb_release -cs) stable" | sudo tee \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/etc/apt/sources.list.d/docker.list &gt; /dev/null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Instalar Docker Engine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 &amp;&amp; sudo apt install -y docker-ce docker-ce-cli \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containerd.io docker-buildx-plugin docker-compose-plugin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5. Verificar la instalación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docker run hello-world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1: Nginx — Servidor Web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con servidor web y página personalizada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931920" cy="35661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nginx:alpine
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Copiar página HTML personalizada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index.html /usr/share/nginx/html/
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Exponer el puerto 80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80
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Nginx ya tiene CMD por defecto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["nginx", "-g", "daemon off;"]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Despliegue paso a paso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directorio del proyecto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~/lab1-nginx &amp;&amp; cd ~/lab1-nginx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index.html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'Lab 1: Nginx </a:t>
            </a:r>
            <a:r>
              <a:rPr lang="en-US" sz="850" dirty="0" err="1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Docker' \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&gt; index.html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Construir la imagen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mi-nginx:v1 .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Ejecutar el contenedor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web-nginx \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8080:80 mi-nginx:v1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Verificar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http://localhost:8080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web-nginx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2: PostgreSQL — Base de Datos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con persistencia de datos usando volúmenes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931920" cy="35661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postgres:16-alpine
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 de entorno para configuración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POSTGRES_DB=labdb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POSTGRES_USER=labuser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POSTGRES_PASSWORD=labpass123
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Script de inicialización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init.sql /docker-entrypoint-initdb.d/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5432
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Despliegue paso a paso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directorio del proyecto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~/lab2-postgres &amp;&amp; cd ~/lab2-postgres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script de inicio SQL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&gt; init.sql &lt;&lt; 'EOF'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alumnos (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SERIAL PRIMARY KEY,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VARCHAR(100),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curso VARCHAR(50)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alumnos VALUES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(1,'Ana','Containers');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Construir y ejecutar con volumen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mi-postgres:v1 .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db-postgres \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5432:5432 \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 pgdata:/var/lib/postgresql/data \</a:t>
            </a:r>
            <a:endParaRPr lang="en-US" sz="7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mi-postgres:v1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3: Python Flask — App Web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personalizada con Dockerfile multi-instrucción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931920" cy="35661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170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python:3.11-slim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/app
</a:t>
            </a: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Instalar dependencias primero (cache)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requirements.txt .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pip install --no-cache-dir \
    -r requirements.txt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app.py .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5000
</a:t>
            </a:r>
            <a:r>
              <a:rPr lang="en-US" sz="9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</a:t>
            </a: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["python", "app.py"]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0F172A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Despliegue paso a paso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directorio del proyecto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~/lab3-flask &amp;&amp; cd ~/lab3-flask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requirements.txt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'flask==3.0.0' &gt; requirements.txt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app.py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&gt; app.py &lt;&lt; 'EOF'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socket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@app.route('/')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hello():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host = socket.gethostname()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f'Lab3 Flask - Host: {host}'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app.run(host='0.0.0.0', port=5000)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Construir y ejecutar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mi-flask:v1 .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app-flask \</a:t>
            </a:r>
            <a:endParaRPr lang="en-US" sz="7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5000:5000 mi-flask:v1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228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Comandos Útiles de Docker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85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rápida para gestión de contenedores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37947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23360" cy="45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Contenedores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contenedores activos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130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-a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359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todos (incluidos detenidos)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609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&lt;name&gt;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895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Detener un contenedor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1912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 &lt;name&gt;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4198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 contenedor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721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&lt;name&gt;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logs en tiempo real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4251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&lt;name&gt; bash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480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shell dentro del contenedor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023360" cy="3794760"/>
          </a:xfrm>
          <a:prstGeom prst="rect">
            <a:avLst/>
          </a:prstGeom>
          <a:solidFill>
            <a:srgbClr val="182842"/>
          </a:solidFill>
          <a:ln/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051560"/>
            <a:ext cx="4023360" cy="457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de Imágenes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600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18288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 imágenes locales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1305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&lt;img&gt;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3591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una imagen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26609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name:tag 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88950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imagen desde Dockerfile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1912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&lt;img&gt;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34198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imagen de registry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3721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tag &lt;img&gt; new:tag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950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 una imagen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42519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 -a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4480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 todo lo no utilizado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111D3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64008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— Unidad 1</a:t>
            </a:r>
            <a:endParaRPr lang="en-US" sz="3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624328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evolucionó de Bare Metal → VMs → Contenedores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3081528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8800" y="3063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contenedores aíslan procesos compartiendo el kernel del host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538728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828800" y="3520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provee el ecosistema completo: Engine, Images, Volumes, Networks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1600" y="3995928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82880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vida: Created → Running → Paused → Stopped → Removed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4453128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2880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Desplegamos 3 contenedores: Nginx, PostgreSQL y Flask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2018</Words>
  <Application>Microsoft Office PowerPoint</Application>
  <PresentationFormat>Presentación en pantalla (16:9)</PresentationFormat>
  <Paragraphs>403</Paragraphs>
  <Slides>20</Slides>
  <Notes>20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1 - Fundamentos de Contenedores</dc:title>
  <dc:subject>PptxGenJS Presentation</dc:subject>
  <dc:creator>Fundamentos DevOps</dc:creator>
  <cp:lastModifiedBy>Lucas Zuluaga Perez</cp:lastModifiedBy>
  <cp:revision>6</cp:revision>
  <dcterms:created xsi:type="dcterms:W3CDTF">2026-02-10T22:44:57Z</dcterms:created>
  <dcterms:modified xsi:type="dcterms:W3CDTF">2026-03-08T18:39:04Z</dcterms:modified>
</cp:coreProperties>
</file>